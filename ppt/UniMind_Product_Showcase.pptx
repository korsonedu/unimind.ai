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Helvetica Neue"/>
              </a:defRPr>
            </a:pPr>
            <a:r>
              <a:t>UniMind.ai · Product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CCCCCC"/>
                </a:solidFill>
                <a:latin typeface="Helvetica Neue"/>
              </a:defRPr>
            </a:pPr>
            <a:r>
              <a:t>SS · 26.07 · 01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BBBBBB"/>
                </a:solidFill>
                <a:latin typeface="Helvetica Neue"/>
              </a:defRPr>
            </a:pPr>
            <a:r>
              <a:t>AI-DRIVEN EDUCATION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0">
                <a:solidFill>
                  <a:srgbClr val="FFFFFF"/>
                </a:solidFill>
                <a:latin typeface="Helvetica Neue"/>
              </a:defRPr>
            </a:pPr>
            <a:r>
              <a:t>UniMind</a:t>
            </a:r>
            <a:br/>
            <a:r>
              <a:t>智能教育基础设施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77295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DDDDDD"/>
                </a:solidFill>
                <a:latin typeface="Helvetica Neue"/>
              </a:defRPr>
            </a:pPr>
            <a:r>
              <a:t>将技术转化为教育生产力 · 两个自治 Agent 覆盖出题、发布、练习、批改与记忆调度的完整教学闭环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AAAA"/>
                </a:solidFill>
                <a:latin typeface="Helvetica Neue"/>
              </a:defRPr>
            </a:pPr>
            <a:r>
              <a:t>unimind-ai.com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400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AAAAA"/>
                </a:solidFill>
                <a:latin typeface="Helvetica Neue"/>
              </a:defRPr>
            </a:pPr>
            <a:r>
              <a:t>→ swipe / arrow keys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PROBLEM · 问题起点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058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一个无法建模学习状态的系统</a:t>
            </a:r>
            <a:br/>
            <a:r>
              <a:t>本质上是一个题库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37373"/>
                </a:solidFill>
                <a:latin typeface="Helvetica Neue"/>
              </a:defRPr>
            </a:pPr>
            <a:r>
              <a:t>传统教育科技产品将纸面题目迁移到了屏幕上，但学生的学习状态并没有因此变得更可见。系统不理解每条记忆痕迹有自己的衰减速率，需要在不同时间点被重新激活。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PAIN POINTS · 对称的低效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学生端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0A0A0A"/>
                </a:solidFill>
                <a:latin typeface="Helvetica Neue"/>
              </a:defRPr>
            </a:pPr>
            <a:r>
              <a:t>练习时间大量消耗在</a:t>
            </a:r>
            <a:br/>
            <a:r>
              <a:t>已掌握的题目上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学习状态被简化为已做题目的列表。系统不判断薄弱点，不计算遗忘时机。学生自己翻题库选章节，真正需要强化的知识点反而被忽略。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12700" cy="45720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教师端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0A0A0A"/>
                </a:solidFill>
                <a:latin typeface="Helvetica Neue"/>
              </a:defRPr>
            </a:pPr>
            <a:r>
              <a:t>看数据之后的一切判断</a:t>
            </a:r>
            <a:br/>
            <a:r>
              <a:t>仍需教师自己完成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哪一个知识点需要重点讲解，哪一个学生正在掉队，什么时候该布置什么作业——这些问题没有工具参与回答。工具承担了记录，却把判断的负担连同效率的损失一起留给了人。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SOLUTION · 架构选择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0584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0">
                <a:solidFill>
                  <a:srgbClr val="FFFFFF"/>
                </a:solidFill>
                <a:latin typeface="Helvetica Neue"/>
              </a:defRPr>
            </a:pPr>
            <a:r>
              <a:t>AI 提供路径</a:t>
            </a:r>
            <a:br/>
            <a:r>
              <a:t>ARCA 构成壁垒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  <a:latin typeface="Helvetica Neue"/>
              </a:defRPr>
            </a:pPr>
            <a:r>
              <a:t>任何团队都可以调用 API。UniMind 的差异在于 ARCA 架构——四层逐层为 AI 提供教育领域必需的感知与约束。AI 是交互层，ARCA 是支撑层。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ARCHITECTURE · ARCA 四层架构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AI 是交互层 · ARCA 是支撑层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097280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Helvetica Neue"/>
              </a:defRPr>
            </a:pPr>
            <a:r>
              <a:t>LAYER 1 · 基础框架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对话管理、Bot注册、意图路由、模型调度、通信传输。新增Agent只需注册配置，自动继承四层能力。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1097280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Helvetica Neue"/>
              </a:defRPr>
            </a:pPr>
            <a:r>
              <a:t>LAYER 2 · 记忆系统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统一调度中枢。Weibull遗忘+图扩散，出题/练习/批改/课程推荐作为执行节点接入，保证系统对「学生此刻该练什么」持有统一状态。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097280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Helvetica Neue"/>
              </a:defRPr>
            </a:pPr>
            <a:r>
              <a:t>LAYER 3 · 教育闭环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教练习测评四环节首尾相连。评测结果回流更新记忆模型，学生使用越久系统建模越准，机构数据持续沉淀为专有教学资产。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74920"/>
            <a:ext cx="10972800" cy="1051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0A0A"/>
                </a:solidFill>
                <a:latin typeface="Helvetica Neue"/>
              </a:defRPr>
            </a:pPr>
            <a:r>
              <a:t>LAYER 4 · 测评引擎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515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IRT三参数Logistic模型，机构级参数隔离。同一道题在不同机构拥有独立参数估计。变式题匹配引擎联动错因分类。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LAYER 1–2 · 基础框架 + 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9144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4114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89152000" y="1672254720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A0A0A"/>
                </a:solidFill>
                <a:latin typeface="Helvetica Neue"/>
              </a:defRPr>
            </a:pPr>
            <a:r>
              <a:t>01 · Bot 注册调度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89152000" y="2090318400000"/>
            <a:ext cx="22860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新增Agent只需注册配置，自动继承四层全部能力。框架设计解耦，两个Agent共享统一运行时。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651760" cy="4114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7283968000" y="1672254720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A0A0A"/>
                </a:solidFill>
                <a:latin typeface="Helvetica Neue"/>
              </a:defRPr>
            </a:pPr>
            <a:r>
              <a:t>02 · 意图预筛选路由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283968000" y="2090318400000"/>
            <a:ext cx="22860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关键词预筛选工具候选集，30+工具压缩至5–8个。缩小候选范围是提升首次选择准确率的核心手段。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651760" cy="4114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278784000" y="1672254720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A0A0A"/>
                </a:solidFill>
                <a:latin typeface="Helvetica Neue"/>
              </a:defRPr>
            </a:pPr>
            <a:r>
              <a:t>03 · 记忆状态模型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278784000" y="2090318400000"/>
            <a:ext cx="22860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每位学生每个知识点独立维护掌握概率、遗忘速率、下次最佳复习窗口。由模型决定练什么、什么难度、什么时机。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651760" cy="4114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1273600000" y="1672254720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A0A0A"/>
                </a:solidFill>
                <a:latin typeface="Helvetica Neue"/>
              </a:defRPr>
            </a:pPr>
            <a:r>
              <a:t>04 · 统一调度执行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1273600000" y="2090318400000"/>
            <a:ext cx="22860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出题、练习、批改、作业、课程推荐等模块作为调度模型的执行节点接入，各层通过记忆系统统一接口调用，层与层独立进化。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LAYER 3 · 教育闭环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9144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教 · 练 · 测 · 评 — 四环节首尾相连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651760" cy="32004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89152000" y="2697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2FA7"/>
                </a:solidFill>
                <a:latin typeface="Helvetica Neue"/>
              </a:defRPr>
            </a:pPr>
            <a:r>
              <a:t>01 · 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89152000" y="320040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知识树将课程视频、文章和题目挂载至知识点节点，信息按认知结构组织。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2651760" cy="32004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283968000" y="2697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2FA7"/>
                </a:solidFill>
                <a:latin typeface="Helvetica Neue"/>
              </a:defRPr>
            </a:pPr>
            <a:r>
              <a:t>02 · 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7283968000" y="320040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Weibull遗忘曲线+图扩散计算遗忘紧迫度，系统已选好题目和难度，学生无需翻题库。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60320"/>
            <a:ext cx="2651760" cy="32004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278784000" y="2697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2FA7"/>
                </a:solidFill>
                <a:latin typeface="Helvetica Neue"/>
              </a:defRPr>
            </a:pPr>
            <a:r>
              <a:t>03 · 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278784000" y="320040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IRT自适应诊断快速定位能力起点，模拟考试和正式考试结果自动更新记忆模型参数。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560320"/>
            <a:ext cx="2651760" cy="32004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1273600000" y="26974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2FA7"/>
                </a:solidFill>
                <a:latin typeface="Helvetica Neue"/>
              </a:defRPr>
            </a:pPr>
            <a:r>
              <a:t>04 · 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1273600000" y="3200400"/>
            <a:ext cx="2286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主观题AI批改后教师复核，客观题自动完成。掌握度热力图让教师一眼看到教学盲区。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LAYER 4 · 测评引擎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PSYCHOMETRICS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0">
                <a:solidFill>
                  <a:srgbClr val="0A0A0A"/>
                </a:solidFill>
                <a:latin typeface="Helvetica Neue"/>
              </a:defRPr>
            </a:pPr>
            <a:r>
              <a:t>项目反应理论</a:t>
            </a:r>
            <a:br/>
            <a:r>
              <a:t>三参数 Logistic 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828800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区分度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0">
                <a:solidFill>
                  <a:srgbClr val="0A0A0A"/>
                </a:solidFill>
                <a:latin typeface="Helvetica Neue"/>
              </a:defRPr>
            </a:pPr>
            <a:r>
              <a:t>MML-EM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边际极大似然估计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200400"/>
            <a:ext cx="1828800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难度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0">
                <a:solidFill>
                  <a:srgbClr val="002FA7"/>
                </a:solidFill>
                <a:latin typeface="Helvetica Neue"/>
              </a:defRPr>
            </a:pPr>
            <a:r>
              <a:t>机构级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同题不同机构独立参数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200400"/>
            <a:ext cx="1828800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猜测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520440"/>
            <a:ext cx="2286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0">
                <a:solidFill>
                  <a:srgbClr val="0A0A0A"/>
                </a:solidFill>
                <a:latin typeface="Helvetica Neue"/>
              </a:defRPr>
            </a:pPr>
            <a:r>
              <a:t>θ 能力值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891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Fallback CTT 冷启动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AI AGENT · 核心论点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对话是通道</a:t>
            </a:r>
            <a:br/>
            <a:r>
              <a:t>系统提前算好的答案才是产品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对话是通道</a:t>
            </a:r>
            <a:br/>
            <a:r>
              <a:t>系统提前算好的答案才是产品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37373"/>
                </a:solidFill>
                <a:latin typeface="Helvetica Neue"/>
              </a:defRPr>
            </a:pPr>
            <a:r>
              <a:t>学生问「我今天该练什么」，小宇已拉取记忆状态模型、到期复习列表、错题分布和掌握度热力图，综合后给出建议——它不返回题库链接。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AGENT · 小宇 · 学生端 AI 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0">
                <a:solidFill>
                  <a:srgbClr val="0A0A0A"/>
                </a:solidFill>
                <a:latin typeface="Helvetica Neue"/>
              </a:defRPr>
            </a:pPr>
            <a:r>
              <a:t>学习教练 · 30+ 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891520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891520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IRT自适应选题，快速定位能力起点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34113280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追踪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34113280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每个知识点记忆衰减，遗忘临界点触发复习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03120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15325896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错因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15325896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概念/计算/审题三类错因，匹配对应变式题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79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891520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891520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长期目标制定，学习计划动态调整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297679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34113280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跨会话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34113280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持续积累学习风格，每次对话都在变精准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4297679"/>
            <a:ext cx="3474720" cy="19202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15325896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PWA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15325896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DDDDD"/>
                </a:solidFill>
                <a:latin typeface="Helvetica Neue"/>
              </a:defRPr>
            </a:pPr>
            <a:r>
              <a:t>遗忘窗口推送提醒，题目已在对话里等着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AGENT · 工作台 · 教师端 AI 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0">
                <a:solidFill>
                  <a:srgbClr val="0A0A0A"/>
                </a:solidFill>
                <a:latin typeface="Helvetica Neue"/>
              </a:defRPr>
            </a:pPr>
            <a:r>
              <a:t>教研助手 · 20+ 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474720" cy="19202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891520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出题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891520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DDDDD"/>
                </a:solidFill>
                <a:latin typeface="Helvetica Neue"/>
              </a:defRPr>
            </a:pPr>
            <a:r>
              <a:t>自然语言描述需求，逐道审核一键入库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34113280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管线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34113280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ARC四Agent接力，通过率60%→85%+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03120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1532589600" y="20485120320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1532589600" y="24247693440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一句话布置给班级，截止时间同时生效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79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891520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批改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891520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AI批改主观题，教师一键复核发布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297679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34113280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34113280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班级薄弱知识点排序，62%失分精准定位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4297679"/>
            <a:ext cx="3474720" cy="19202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1532589600" y="4055216781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1532589600" y="4431474093600"/>
            <a:ext cx="3108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37373"/>
                </a:solidFill>
                <a:latin typeface="Helvetica Neue"/>
              </a:defRPr>
            </a:pPr>
            <a:r>
              <a:t>题库统计·课程浏览·通知发送·邀请管理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MEMORIX · 核心调度算法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0584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0">
                <a:solidFill>
                  <a:srgbClr val="FFFFFF"/>
                </a:solidFill>
                <a:latin typeface="Helvetica Neue"/>
              </a:defRPr>
            </a:pPr>
            <a:r>
              <a:t>知识是一张</a:t>
            </a:r>
            <a:br/>
            <a:r>
              <a:t>连通图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  <a:latin typeface="Helvetica Neue"/>
              </a:defRPr>
            </a:pPr>
            <a:r>
              <a:t>传统间隔重复将每个知识点视为独立记忆单元。Memorix 的图扩散状态估计器感知跨知识点迁移效应——学生练了分部积分，不定积分的复习优先级自动下调。复习预算重新分配给真正需要加强的节点。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MEMORIX · 受控仿真验证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CFA 知识图谱 · 215 知识点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相较 FSRS</a:t>
            </a:r>
            <a:br/>
            <a:r>
              <a:t>留存率提升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名学生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457200" cy="987552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天仿真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937760"/>
            <a:ext cx="457200" cy="1207007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A0A0A"/>
                </a:solidFill>
                <a:latin typeface="Helvetica Neue"/>
              </a:defRPr>
            </a:pPr>
            <a:r>
              <a:t>215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知识点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937760"/>
            <a:ext cx="457200" cy="1426464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47472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002FA7"/>
                </a:solidFill>
                <a:latin typeface="Helvetica Neue"/>
              </a:defRPr>
            </a:pPr>
            <a:r>
              <a:t>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572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留存提升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4937760"/>
            <a:ext cx="457200" cy="1975104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KNOWLEDGE GRAPH · 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13 学科 · 4,486 知识点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89152000" y="221573750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89152000" y="250838208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金融 431 · 金融硕士核心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2860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3411328000" y="221573750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3411328000" y="250838208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CFA · CPA · 财经类认证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2860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1532589600" y="221573750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1532589600" y="250838208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法考 · 法学 · 法律类考试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89152000" y="388799222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89152000" y="418063680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教资 · 教育学 · 教育类资格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41148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3411328000" y="388799222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3411328000" y="418063680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计算机 408 · 考研统考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4114800"/>
            <a:ext cx="3474720" cy="1554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1532589600" y="388799222400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02FA7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1532589600" y="4180636800000"/>
            <a:ext cx="3108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A0A0A"/>
                </a:solidFill>
                <a:latin typeface="Helvetica Neue"/>
              </a:defRPr>
            </a:pPr>
            <a:r>
              <a:t>高中数理化生 + USMLE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↳ 四级树状结构 · Markdown 导入 · AI 自动生成 · 机构可完全替换全局默认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MUTAR · 自进化闭环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MEASURE → UMPIRE → THINK → ADAPT → REFINE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0">
                <a:solidFill>
                  <a:srgbClr val="0A0A0A"/>
                </a:solidFill>
                <a:latin typeface="Helvetica Neue"/>
              </a:defRPr>
            </a:pPr>
            <a:r>
              <a:t>每次使用都在提升下一次体验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Measure · 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5176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每次对话后自动记录完整轨迹：工具调用序列、返回结果、用户反馈信号。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Umpire · 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60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按周聚合：工具调用成功率、对话完成度、prompt variant 效果差异。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Think · 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6344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定位差异根因，产出因果推断，不做简单统计报表。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Adapt → Refine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669280"/>
            <a:ext cx="7315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生成优化候选→存入审核队列→人工确认→部署生效→成为下一轮基线。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SCENARIOS · 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学生端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A0A0A"/>
                </a:solidFill>
                <a:latin typeface="Helvetica Neue"/>
              </a:defRPr>
            </a:pPr>
            <a:r>
              <a:t>诊断→每日练习→错因→变式题→PWA推送提醒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「你今天有 3 个知识点进入遗忘窗口了，不定积分上次正确率 60%，我选了 5 道题，准备好了吗？」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12700" cy="4114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教师端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0A0A0A"/>
                </a:solidFill>
                <a:latin typeface="Helvetica Neue"/>
              </a:defRPr>
            </a:pPr>
            <a:r>
              <a:t>自然语言出题→ARC精修→发布→批改→薄弱分析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「全班 62% 的学生在导数构造法上失分，建议明天课上重点讲解。」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DATA SECURITY · 数据安全与进化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数据属于机构</a:t>
            </a:r>
            <a:br/>
            <a:r>
              <a:t>系统随着使用变聪明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474720" cy="36576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8915200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物理隔离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89152000" y="28346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89152000" y="3840480"/>
            <a:ext cx="3108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机构间数据独立存储，记忆模型、IRT参数、知识图谱、对话历史均独立隔离。机构拥有全量导出权。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377440"/>
            <a:ext cx="3474720" cy="36576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341132800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A0A0A"/>
                </a:solidFill>
                <a:latin typeface="Helvetica Neue"/>
              </a:defRPr>
            </a:pPr>
            <a:r>
              <a:t>四层认证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3411328000" y="28346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A0A0A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3411328000" y="3840480"/>
            <a:ext cx="3108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httpOnly Cookie + RBAC，超管→机构所有者→教师→学生，叠加功能权限矩阵。敏感字段 Fernet AES 加密。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377440"/>
            <a:ext cx="3474720" cy="36576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1532589600" y="25146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2FA7"/>
                </a:solidFill>
                <a:latin typeface="Helvetica Neue"/>
              </a:defRPr>
            </a:pPr>
            <a:r>
              <a:t>持续进化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1532589600" y="28346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02FA7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1532589600" y="3840480"/>
            <a:ext cx="3108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37373"/>
                </a:solidFill>
                <a:latin typeface="Helvetica Neue"/>
              </a:defRPr>
            </a:pPr>
            <a:r>
              <a:t>一个机构用了半年的 UniMind 和刚注册时已经不是同一个系统。Agent 回应风格、出题偏好向实际教学场景收敛。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PRICING · 定价方案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4192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0A0A0A"/>
                </a:solidFill>
                <a:latin typeface="Helvetica Neue"/>
              </a:defRPr>
            </a:pPr>
            <a:r>
              <a:t>Free → Starter → Growth → Enterprise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960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6705664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0A0A"/>
                </a:solidFill>
                <a:latin typeface="Helvetica Neue"/>
              </a:defRPr>
            </a:pPr>
            <a:r>
              <a:t>¥0/月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06705664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485120320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30学员 · 1教师 · 1学科 · 100次AI调用 · 全功能Agent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1247120" cy="960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0058496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0A0A"/>
                </a:solidFill>
                <a:latin typeface="Helvetica Neue"/>
              </a:defRPr>
            </a:pPr>
            <a:r>
              <a:t>¥499/月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100584960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STARTER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518648640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50学员 · 1教师 · 3学科 · 500次AI调用 · 学情报告 · 教学计划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79"/>
            <a:ext cx="11247120" cy="9601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13410413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¥1,299/月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13410413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0552167816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FFFF"/>
                </a:solidFill>
                <a:latin typeface="Helvetica Neue"/>
              </a:defRPr>
            </a:pPr>
            <a:r>
              <a:t>200学员 · 5教师 · 10学科 · 3,000次AI · Memorix · 知识图谱 · 学生端收费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59"/>
            <a:ext cx="11247120" cy="960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16763245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0A0A"/>
                </a:solidFill>
                <a:latin typeface="Helvetica Neue"/>
              </a:defRPr>
            </a:pPr>
            <a:r>
              <a:t>¥3,999/月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167632456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0585696136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737373"/>
                </a:solidFill>
                <a:latin typeface="Helvetica Neue"/>
              </a:defRPr>
            </a:pPr>
            <a:r>
              <a:t>不限学员·教师·学科·AI · Bot自定义 · 品牌白标 · API · 私有化部署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14 天全功能试用 · 年付约省 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7295" cy="6350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EVOLUTION · 自进化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5B7BFF"/>
                </a:solidFill>
                <a:latin typeface="Helvetica Neue"/>
              </a:defRPr>
            </a:pPr>
            <a:r>
              <a:t>MUTAR + 跨会话记忆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91440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0">
                <a:solidFill>
                  <a:srgbClr val="FFFFFF"/>
                </a:solidFill>
                <a:latin typeface="Helvetica Neue"/>
              </a:defRPr>
            </a:pPr>
            <a:r>
              <a:t>用得越久</a:t>
            </a:r>
            <a:br/>
            <a:r>
              <a:t>它越像你的助手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6400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BBBB"/>
                </a:solidFill>
                <a:latin typeface="Helvetica Neue"/>
              </a:defRPr>
            </a:pPr>
            <a:r>
              <a:t>通用 chatbot 每次对话从零开始。UniMind 被机构的使用数据反复打磨——Agent 回应风格、出题偏好、知识树结构都向实际教学场景收敛。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Helvetica Neue"/>
              </a:defRPr>
            </a:pPr>
            <a:r>
              <a:t>不是所有人的同一个助手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737373"/>
                </a:solidFill>
                <a:latin typeface="Helvetica Neue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18099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Helvetica Neue"/>
              </a:defRPr>
            </a:pPr>
            <a: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CCCCCC"/>
                </a:solidFill>
                <a:latin typeface="Helvetica Neue"/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0">
                <a:solidFill>
                  <a:srgbClr val="FFFFFF"/>
                </a:solidFill>
                <a:latin typeface="Helvetica Neue"/>
              </a:defRPr>
            </a:pPr>
            <a:r>
              <a:t>将技术转化为</a:t>
            </a:r>
            <a:br/>
            <a:r>
              <a:t>教育生产力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502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DDDDD"/>
                </a:solidFill>
                <a:latin typeface="Helvetica Neue"/>
              </a:defRPr>
            </a:pPr>
            <a:r>
              <a:t>Agent 驱动的新一代智能教育基础设施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AAAA"/>
                </a:solidFill>
                <a:latin typeface="Helvetica Neue"/>
              </a:defRPr>
            </a:pPr>
            <a:r>
              <a:t>unimind-ai.com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TAKEAWAYS · 03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48992960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ARCA 四层架构为 AI 提供教育感知与约束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41156608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AI 是交互层，ARCA 是支撑层——任何团队都可以调用 API，ARCA 是壁垒。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699285440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Memorix 图扩散 + MUTAR 自进化构成双引擎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46185856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记忆调度让练习更有效，自进化闭环让系统随使用量增长持续优化自身。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FA7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749577920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0A0A"/>
                </a:solidFill>
                <a:latin typeface="Helvetica Neue"/>
              </a:defRPr>
            </a:pPr>
            <a:r>
              <a:t>机构数据持续沉淀为专有教学资产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35121510400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37373"/>
                </a:solidFill>
                <a:latin typeface="Helvetica Neue"/>
              </a:defRPr>
            </a:pPr>
            <a:r>
              <a:t>物理隔离、全量导出、私有化部署——数据属于机构，系统不用于跨机构训练。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4008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37373"/>
                </a:solidFill>
                <a:latin typeface="Helvetica Neue"/>
              </a:defRPr>
            </a:pPr>
            <a:r>
              <a:t>→ 完 · END OF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