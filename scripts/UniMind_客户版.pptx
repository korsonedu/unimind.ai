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>
              <a:lumMod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0F0F5"/>
                </a:solidFill>
                <a:latin typeface="Helvetica Neue"/>
              </a:defRPr>
            </a:pPr>
            <a:r>
              <a:t>你的老师出题，AI 帮忙审，学生练完自动记住。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D3EE"/>
                </a:solidFill>
                <a:latin typeface="Helvetica Neue"/>
              </a:defRPr>
            </a:pPr>
            <a:r>
              <a:t>出题 → 练习 → 沉淀 → 更好的题 — 一个越用越聪明的闭环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78"/>
                </a:solidFill>
                <a:latin typeface="Helvetica Neue"/>
              </a:defRPr>
            </a:pPr>
            <a:r>
              <a:t>培训机构的 AI 运营系统  |  北京融知高科 · UniMind.ai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你正在面对的三个问题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338328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3F5E"/>
                </a:solidFill>
                <a:latin typeface="Helvetica Neue"/>
              </a:defRPr>
            </a:pPr>
            <a:r>
              <a:t>出题靠人工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2926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教研老师 60% 时间在出题、组卷、写解析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月薪 1.5-2 万，一年 18-24 万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出一道题平均 30 分钟，质量参差不齐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560320"/>
            <a:ext cx="33832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788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Helvetica Neue"/>
              </a:defRPr>
            </a:pPr>
            <a:r>
              <a:t>续费率上不去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00400"/>
            <a:ext cx="2926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所有学生刷同一套题，无个性化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遗忘曲线被忽视，复习效率低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续费率卡在 60-70%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56032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9" y="2560320"/>
            <a:ext cx="3383280" cy="38100"/>
          </a:xfrm>
          <a:prstGeom prst="rect">
            <a:avLst/>
          </a:prstGeom>
          <a:solidFill>
            <a:srgbClr val="60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2788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6078"/>
                </a:solidFill>
                <a:latin typeface="Helvetica Neue"/>
              </a:defRPr>
            </a:pPr>
            <a:r>
              <a:t>教学靠感觉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200400"/>
            <a:ext cx="2926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不知道谁在哪里卡住了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效果无法量化，家长不信任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好老师的经验无法沉淀复用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THE FLYWHEEL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一个越用越聪明的闭环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Helvetica Neue"/>
              </a:defRPr>
            </a:pPr>
            <a:r>
              <a:t>这是 UniMind 的核心价值 — 不是三个独立工具，是一个自我强化的飞轮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Helvetica Neue"/>
              </a:defRPr>
            </a:pPr>
            <a:r>
              <a:t>① 教师出题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Menlo"/>
              </a:defRPr>
            </a:pPr>
            <a:r>
              <a:t>AI 对抗出题引擎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输入考点 → 4 Agent 互相审核</a:t>
            </a:r>
            <a:br/>
            <a:r>
              <a:t>85%+ 可直接用于课堂</a:t>
            </a:r>
            <a:br/>
            <a:r>
              <a:t>一道题 10 秒，不是 30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18CF8"/>
                </a:solidFill>
                <a:latin typeface="Helvetica Neue"/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6032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697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Helvetica Neue"/>
              </a:defRPr>
            </a:pPr>
            <a:r>
              <a:t>② 学生练习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Menlo"/>
              </a:defRPr>
            </a:pPr>
            <a:r>
              <a:t>自适应刷题 + AI 批改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204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主观题自动评分 + 详细解析</a:t>
            </a:r>
            <a:br/>
            <a:r>
              <a:t>难度 5 级可选，教师锁定</a:t>
            </a:r>
            <a:br/>
            <a:r>
              <a:t>每次答题产生训练数据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18CF8"/>
                </a:solidFill>
                <a:latin typeface="Helvetica Neue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56032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9" y="2697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Helvetica Neue"/>
              </a:defRPr>
            </a:pPr>
            <a:r>
              <a:t>③ Memorix 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Menlo"/>
              </a:defRPr>
            </a:pPr>
            <a:r>
              <a:t>记忆算法持续学习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35204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每次答题更新个人记忆模型</a:t>
            </a:r>
            <a:br/>
            <a:r>
              <a:t>Weibull 遗忘曲线 + 在线学习</a:t>
            </a:r>
            <a:br/>
            <a:r>
              <a:t>复习越用越准，续费率 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577840"/>
            <a:ext cx="10332720" cy="731520"/>
          </a:xfrm>
          <a:prstGeom prst="roundRect">
            <a:avLst>
              <a:gd name="adj" fmla="val 5000"/>
            </a:avLst>
          </a:prstGeom>
          <a:solidFill>
            <a:srgbClr val="1616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D3EE"/>
                </a:solidFill>
                <a:latin typeface="Helvetica Neue"/>
              </a:defRPr>
            </a:pPr>
            <a:r>
              <a:t>⟳ 飞轮效应：学生练习数据 → Memorix 发现薄弱点 → AI 生成更精准的题 → 效率更高 → 更多数据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STEP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教师出题：4-Agent 对抗引擎（ARC）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Helvetica Neue"/>
              </a:defRPr>
            </a:pPr>
            <a:r>
              <a:t>不是「AI 随便出题」，是 4 个 Agent 互相审核，教师只管审核通过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743200"/>
            <a:ext cx="1737360" cy="1005840"/>
          </a:xfrm>
          <a:prstGeom prst="roundRect">
            <a:avLst>
              <a:gd name="adj" fmla="val 5000"/>
            </a:avLst>
          </a:prstGeom>
          <a:solidFill>
            <a:srgbClr val="60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5"/>
                </a:solidFill>
                <a:latin typeface="Helvetica Neue"/>
              </a:defRPr>
            </a:pPr>
            <a:r>
              <a:t>考点</a:t>
            </a:r>
            <a:br/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017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743200"/>
            <a:ext cx="1737360" cy="100584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8346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5"/>
                </a:solidFill>
                <a:latin typeface="Helvetica Neue"/>
              </a:defRPr>
            </a:pPr>
            <a:r>
              <a:t>Author</a:t>
            </a:r>
            <a:br/>
            <a:r>
              <a:t>出题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017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743200"/>
            <a:ext cx="1737360" cy="1005840"/>
          </a:xfrm>
          <a:prstGeom prst="roundRect">
            <a:avLst>
              <a:gd name="adj" fmla="val 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8346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5"/>
                </a:solidFill>
                <a:latin typeface="Helvetica Neue"/>
              </a:defRPr>
            </a:pPr>
            <a:r>
              <a:t>Reviewer</a:t>
            </a:r>
            <a:br/>
            <a:r>
              <a:t>审核+工具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017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743200"/>
            <a:ext cx="1737360" cy="100584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8346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5"/>
                </a:solidFill>
                <a:latin typeface="Helvetica Neue"/>
              </a:defRPr>
            </a:pPr>
            <a:r>
              <a:t>修正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017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43200"/>
            <a:ext cx="1737360" cy="100584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8346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5"/>
                </a:solidFill>
                <a:latin typeface="Helvetica Neue"/>
              </a:defRPr>
            </a:pPr>
            <a:r>
              <a:t>Classifier</a:t>
            </a:r>
            <a:br/>
            <a:r>
              <a:t>分类审计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017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2743200"/>
            <a:ext cx="1737360" cy="10058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28346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5"/>
                </a:solidFill>
                <a:latin typeface="Helvetica Neue"/>
              </a:defRPr>
            </a:pPr>
            <a:r>
              <a:t>入库</a:t>
            </a:r>
            <a:br/>
            <a:r>
              <a:t>可用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78"/>
                </a:solidFill>
                <a:latin typeface="Menlo"/>
              </a:defRPr>
            </a:pPr>
            <a:r>
              <a:t>↻ 最多 3 轮迭代 · 阈值 0.7 · 难度由教师锁定（AI 不能改）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9768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616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34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606078"/>
                </a:solidFill>
                <a:latin typeface="Helvetica Neue"/>
              </a:defRPr>
            </a:pPr>
            <a:r>
              <a:t>~60%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单次 LLM 可用率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616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434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0B981"/>
                </a:solidFill>
                <a:latin typeface="Helvetica Neue"/>
              </a:defRPr>
            </a:pPr>
            <a:r>
              <a:t>85%+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ARC 管线可用率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29768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616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434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2D3EE"/>
                </a:solidFill>
                <a:latin typeface="Helvetica Neue"/>
              </a:defRPr>
            </a:pPr>
            <a:r>
              <a:t>50x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出题速度提升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78"/>
                </a:solidFill>
                <a:latin typeface="Menlo"/>
              </a:defRPr>
            </a:pPr>
            <a:r>
              <a:t>30min → 10s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支持题型：单选 / 多选 / 判断 / 名词解释 / 简答 / 论述 / 计算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5 级难度：入门 / 简单 / 一般 / 困难 / 地狱 — 教师手动锁定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STEP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学生练习：扫码即练，AI 批改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Helvetica Neue"/>
              </a:defRPr>
            </a:pPr>
            <a:r>
              <a:t>无需下载 APP，纯网页端，手机/平板/电脑全支持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生成邀请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18CF8"/>
                </a:solidFill>
                <a:latin typeface="Helvetica Neue"/>
              </a:defRPr>
            </a:pPr>
            <a:r>
              <a:t>链接/二维码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7432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扫码注册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18CF8"/>
                </a:solidFill>
                <a:latin typeface="Helvetica Neue"/>
              </a:defRPr>
            </a:pPr>
            <a:r>
              <a:t>填写信息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7432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开始刷题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18CF8"/>
                </a:solidFill>
                <a:latin typeface="Helvetica Neue"/>
              </a:defRPr>
            </a:pPr>
            <a:r>
              <a:t>AI 自适应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7432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AI 批改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18CF8"/>
                </a:solidFill>
                <a:latin typeface="Helvetica Neue"/>
              </a:defRPr>
            </a:pPr>
            <a:r>
              <a:t>主观题也行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主观题 AI 评分 + 详细解析，教师可复核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5 级难度：入门/简单/一般/困难/地狱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教师锁定难度，AI 不能擅自更改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ELO 排位系统，激发学习动力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每周自动生成「认知资产周报」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中英文双语界面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297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4297680"/>
            <a:ext cx="50292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5262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学生端亮点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9377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零门槛：扫码即练，无需下载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即时反馈：答题后立即看到解析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个性化：系统记住每个学生的薄弱点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社交：ELO 排名 + 自习室互动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STEP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Memorix 沉淀：越用越准的记忆算法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Helvetica Neue"/>
              </a:defRPr>
            </a:pPr>
            <a:r>
              <a:t>不是固定间隔复习，是为每个学生实时学习的自研算法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56032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926080"/>
                <a:gridCol w="34747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传统间隔重复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FSRS v4.5（开源最优）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Memorix（UniMind）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遗忘模型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固定曲线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幂律分布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Weibull（可学习）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个性化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全局参数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每用户 20 维权重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更新方式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批量拟合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每次答题实时学习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预测精度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差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RMSE 基线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↓ 13.7%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用户留存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基线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基线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↑ 9.2%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937760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1616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Helvetica Neue"/>
              </a:defRPr>
            </a:pPr>
            <a:r>
              <a:t>⟳ 飞轮闭环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Helvetica Neue"/>
              </a:defRPr>
            </a:pPr>
            <a:r>
              <a:t>学生每做一道题 → Memorix 更新个人模型 → 下次复习更精准 → 薄弱点自动暴露 → AI 生成更有针对性的题 → 效率更高 → 续费率提升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8"/>
                </a:solidFill>
                <a:latin typeface="Menlo"/>
              </a:defRPr>
            </a:pPr>
            <a:r>
              <a:t>验证：431 金融考研 · 500+ 用户 · 120,000+ 复习记录 · 白皮书已发布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知识图谱 + 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Helvetica Neue"/>
              </a:defRPr>
            </a:pPr>
            <a:r>
              <a:t>红黄绿一眼看清，谁在哪个知识点上卡住了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4 层知识树：学科 → 章 → 节 → 知识点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每个知识点：掌握度评分 + 热力图（绿/黄/红）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自动识别瓶颈：DAG 遍历找到前置知识缺口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用户自标注：优先级、置信度、标签、笔记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支持 Markdown 导入 + AI 自动生成知识树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56032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2560320"/>
            <a:ext cx="5029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788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场景举例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2004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学生在「投资组合管理」反复出错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系统发现「资产定价模型」掌握度仅 35%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自动推荐回到 CAPM 复习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教师在后台看到全班瓶颈分布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Helvetica Neue"/>
              </a:defRPr>
            </a:pPr>
            <a:r>
              <a:t>知识图谱是飞轮的数据骨架 — 每个知识点的记忆状态由 Memorix 驱动，教师出题时可按图谱选考点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AI 助教 + 模拟面试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5303520" cy="36576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53035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AI 助教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多角色可选：不同性格和学术背景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支持 LaTeX 公式渲染（数学/金融/物理）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7×24 在线，学生随时提问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自动查询知识树 + 学生薄弱点 + 错题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机构可自定义 Bot 人设和知识库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WebSocket 流式响应，打字机效果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60320"/>
            <a:ext cx="5029200" cy="36576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560320"/>
            <a:ext cx="50292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788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AI 模拟面试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0040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4 种面试类型：简历/英语/专业/综合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2 种风格：友好引导 / 压力面试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简历上传 → AI 优化 + 预测 10 个提问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实时 WebSocket 对话，逐轮反馈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面试结束 → 5 维雷达图评分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维度：理论深度/逻辑/抗压/表达/英语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更多功能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视频课程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分片上传 + ASR 转录 + AI 大纲
时间戳跳转 + 字幕叠加 + 倍速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56032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788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在线自习室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2004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番茄钟 + 实时聊天 + 周计划
学习状态广播 + GIPHY + 图片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256032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2788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答疑系统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32004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社区式问答，教师认证标识
支持图片、搜索、点赞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PDF 模考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AI 根据薄弱点自动组卷
生成 PDF + 答案，支持教师发布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57200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学情周报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2120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ELO 百分位 + 永久掌握题数
准确率/题量/专注时长趋势图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457200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通知系统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52120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站内消息 + 管理员批量推送
WebSocket 实时送达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机构管理后台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Helvetica Neue"/>
              </a:defRPr>
            </a:pPr>
            <a:r>
              <a:t>一个后台管所有事，教师无需技术背景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Helvetica Neue"/>
              </a:defRPr>
            </a:pPr>
            <a:r>
              <a:t>题库管理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批量导入 / AI 生成 / 审核队列 / 标签管理 / 难度标记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Helvetica Neue"/>
              </a:defRPr>
            </a:pPr>
            <a:r>
              <a:t>学员管理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分班 / 数据导出 / 学情对比 / ELO 排名 / 激活码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Helvetica Neue"/>
              </a:defRPr>
            </a:pPr>
            <a:r>
              <a:t>课程管理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视频上传 / AI 大纲 / 课程标签 / 分片上传 / 进度跟踪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Helvetica Neue"/>
              </a:defRPr>
            </a:pPr>
            <a:r>
              <a:t>AI Bot 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自定义助教人设 / 知识库配置 / 多角色切换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Helvetica Neue"/>
              </a:defRPr>
            </a:pPr>
            <a:r>
              <a:t>Prompt 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文件级模板 / 数据库版本历史 / 一键回滚 / 在线编辑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Helvetica Neue"/>
              </a:defRPr>
            </a:pPr>
            <a:r>
              <a:t>数据洞察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班级对比 / 知识点掌握分布 / 使用量统计 / 审计日志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8"/>
                </a:solidFill>
                <a:latin typeface="Menlo"/>
              </a:defRPr>
            </a:pPr>
            <a:r>
              <a:t>三层权限：平台角色 ∩ 机构角色 ∩ 方案等级 = 有效权限 · 多租户数据隔离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学科覆盖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Helvetica Neue"/>
              </a:defRPr>
            </a:pPr>
            <a:r>
              <a:t>学科无关 — 只要能结构化为知识点，就能用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Helvetica Neue"/>
              </a:defRPr>
            </a:pPr>
            <a:r>
              <a:t>考研专业课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金融 431 / 法学 / 医学 / 408 / 311 / 312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743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Helvetica Neue"/>
              </a:defRPr>
            </a:pPr>
            <a:r>
              <a:t>职业资格证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CPA / CFA / 法考 / 教资 / 一建 / USMLE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56032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2743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Helvetica Neue"/>
              </a:defRPr>
            </a:pPr>
            <a:r>
              <a:t>中学学科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31546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高中数学 / 物理 / 化学 / 生物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Helvetica Neue"/>
              </a:defRPr>
            </a:pPr>
            <a:r>
              <a:t>公考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行测 / 申论 / 公基 / 军队文职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57200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754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Helvetica Neue"/>
              </a:defRPr>
            </a:pPr>
            <a:r>
              <a:t>留学考试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1663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SAT / ACT / AP / GRE / GMAT / LSAT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457200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9" y="4754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Helvetica Neue"/>
              </a:defRPr>
            </a:pPr>
            <a:r>
              <a:t>语言考试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51663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TOEFL / IELTS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定价方案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56032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2377440"/>
                <a:gridCol w="265176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个人工作室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独立教师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培训机构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连锁品牌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价格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¥499/月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¥1,299/月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¥3,999/月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学生数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不限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教师数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不限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AI 出题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30 次/月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100 次/月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不限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不限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AI 批改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不限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不限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不限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不限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Memorix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知识图谱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视频课程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品牌定制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私有部署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Helvetica Neue"/>
              </a:defRPr>
            </a:pPr>
            <a:r>
              <a:t>年付约 8 折（节省 23-33%）· 14 天免费试用 · 无需绑卡 · 数据永久保留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已在使用的机构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5303520" cy="155448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“生成了 400+ 道题，85% 以上可以直接用于课堂教学。”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Helvetica Neue"/>
              </a:defRPr>
            </a:pPr>
            <a:r>
              <a:t>— 何伟 / 北京 / CFA 培训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560320"/>
            <a:ext cx="5303520" cy="155448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“续费率从不到 70% 提升到 80% 以上。3 校区、200+ 学生。”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566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Helvetica Neue"/>
              </a:defRPr>
            </a:pPr>
            <a:r>
              <a:t>— 周鹏 / 成都 / 高中数学连锁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89120"/>
            <a:ext cx="5303520" cy="155448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“当天注册当天就能用，不需要技术团队。”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Helvetica Neue"/>
              </a:defRPr>
            </a:pPr>
            <a:r>
              <a:t>— 林佳 / 上海 / CPA 培训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389120"/>
            <a:ext cx="5303520" cy="155448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5720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“批改时间缩短了一半以上。”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394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Helvetica Neue"/>
              </a:defRPr>
            </a:pPr>
            <a:r>
              <a:t>— 吴敏 / 广州 / 法考培训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640080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616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37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2D3EE"/>
                </a:solidFill>
                <a:latin typeface="Helvetica Neue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7178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Helvetica Neue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22860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78"/>
                </a:solidFill>
                <a:latin typeface="Helvetica Neue"/>
              </a:defRPr>
            </a:pPr>
            <a:r>
              <a:t>10+ 学科  ·  50,000+ 已生成题目  ·  50+ 活跃机构  ·  50x 出题提速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>
              <a:lumMod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Helvetica Neue"/>
              </a:defRPr>
            </a:pPr>
            <a:r>
              <a:t>让你的老师专注教学，把运营交给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D3EE"/>
                </a:solidFill>
                <a:latin typeface="Helvetica Neue"/>
              </a:defRPr>
            </a:pPr>
            <a:r>
              <a:t>一个越用越聪明的闭环：出题 → 练习 → 沉淀 → 更好的题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840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18CF8"/>
                </a:solidFill>
                <a:latin typeface="Helvetica Neue"/>
              </a:defRPr>
            </a:pPr>
            <a:r>
              <a:t>① 发邮件至 korsonedu@gmail.com 申请试用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343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18CF8"/>
                </a:solidFill>
                <a:latin typeface="Helvetica Neue"/>
              </a:defRPr>
            </a:pPr>
            <a:r>
              <a:t>② 14 天 Growth 方案免费体验（无需绑卡）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8463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18CF8"/>
                </a:solidFill>
                <a:latin typeface="Helvetica Neue"/>
              </a:defRPr>
            </a:pPr>
            <a:r>
              <a:t>③ 专属对接人全程陪跑，当天注册当天能用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5303520"/>
            <a:ext cx="4480560" cy="54864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5349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A14"/>
                </a:solidFill>
                <a:latin typeface="Helvetica Neue"/>
              </a:defRPr>
            </a:pPr>
            <a:r>
              <a:t>⭐ 首批机构免费用 Growth 方案 · 截止 2026 年 6 月 30 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21792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78"/>
                </a:solidFill>
                <a:latin typeface="Helvetica Neue"/>
              </a:defRPr>
            </a:pPr>
            <a:r>
              <a:t>北京融知高科 · UniMind.ai · 培训机构的 AI 基础设施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4922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9E0B"/>
                </a:solidFill>
                <a:latin typeface="Helvetica Neue"/>
              </a:defRPr>
            </a:pPr>
            <a:r>
              <a:t>前 20 名付费客户锁定终身价格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