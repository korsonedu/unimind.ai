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366F1">
              <a:lumMod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0F0F5"/>
                </a:solidFill>
                <a:latin typeface="Helvetica Neue"/>
              </a:defRPr>
            </a:pPr>
            <a:r>
              <a:t>UniMind.ai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22D3EE"/>
                </a:solidFill>
                <a:latin typeface="Helvetica Neue"/>
              </a:defRPr>
            </a:pPr>
            <a:r>
              <a:t>培训机构的 AI 运营系统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84048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06078"/>
                </a:solidFill>
                <a:latin typeface="Menlo"/>
              </a:defRPr>
            </a:pPr>
            <a:r>
              <a:t>The Operations Layer for Tutoring Businesses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75488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18CF8"/>
                </a:solidFill>
                <a:latin typeface="Helvetica Neue"/>
              </a:defRPr>
            </a:pPr>
            <a:r>
              <a:t>教师出题 → 学生练习 → Memorix 沉淀 → 越用越聪明的飞轮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669280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06078"/>
                </a:solidFill>
                <a:latin typeface="Helvetica Neue"/>
              </a:defRPr>
            </a:pPr>
            <a:r>
              <a:t>北京融知高科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06078"/>
                </a:solidFill>
                <a:latin typeface="Menlo"/>
              </a:defRPr>
            </a:pPr>
            <a:r>
              <a:t>1/16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18CF8"/>
                </a:solidFill>
                <a:latin typeface="Menlo"/>
              </a:defRPr>
            </a:pPr>
            <a: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5"/>
                </a:solidFill>
                <a:latin typeface="Helvetica Neue"/>
              </a:defRPr>
            </a:pPr>
            <a:r>
              <a:t>万亿教培市场的效率黑洞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728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8"/>
                </a:solidFill>
                <a:latin typeface="Helvetica Neue"/>
              </a:defRPr>
            </a:pPr>
            <a:r>
              <a:t>中国教培市场 ~8,000 亿（2025），中小机构占 60%+，无技术团队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26080"/>
            <a:ext cx="3200400" cy="1463040"/>
          </a:xfrm>
          <a:prstGeom prst="roundRect">
            <a:avLst>
              <a:gd name="adj" fmla="val 5000"/>
            </a:avLst>
          </a:prstGeom>
          <a:solidFill>
            <a:srgbClr val="16162A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0632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43F5E"/>
                </a:solidFill>
                <a:latin typeface="Helvetica Neue"/>
              </a:defRPr>
            </a:pPr>
            <a:r>
              <a:t>¥2 万/月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03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B8"/>
                </a:solidFill>
                <a:latin typeface="Helvetica Neue"/>
              </a:defRPr>
            </a:pPr>
            <a:r>
              <a:t>教研人力成本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06078"/>
                </a:solidFill>
                <a:latin typeface="Menlo"/>
              </a:defRPr>
            </a:pPr>
            <a:r>
              <a:t>60% 时间在出题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926080"/>
            <a:ext cx="3200400" cy="1463040"/>
          </a:xfrm>
          <a:prstGeom prst="roundRect">
            <a:avLst>
              <a:gd name="adj" fmla="val 5000"/>
            </a:avLst>
          </a:prstGeom>
          <a:solidFill>
            <a:srgbClr val="16162A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30632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59E0B"/>
                </a:solidFill>
                <a:latin typeface="Helvetica Neue"/>
              </a:defRPr>
            </a:pPr>
            <a:r>
              <a:t>60-70%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703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B8"/>
                </a:solidFill>
                <a:latin typeface="Helvetica Neue"/>
              </a:defRPr>
            </a:pPr>
            <a:r>
              <a:t>行业平均续费率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977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06078"/>
                </a:solidFill>
                <a:latin typeface="Menlo"/>
              </a:defRPr>
            </a:pPr>
            <a:r>
              <a:t>缺少个性化手段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59" y="2926080"/>
            <a:ext cx="3200400" cy="1463040"/>
          </a:xfrm>
          <a:prstGeom prst="roundRect">
            <a:avLst>
              <a:gd name="adj" fmla="val 5000"/>
            </a:avLst>
          </a:prstGeom>
          <a:solidFill>
            <a:srgbClr val="16162A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59" y="30632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606078"/>
                </a:solidFill>
                <a:latin typeface="Helvetica Neue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59" y="3703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B8"/>
                </a:solidFill>
                <a:latin typeface="Helvetica Neue"/>
              </a:defRPr>
            </a:pPr>
            <a:r>
              <a:t>实时学情数据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59" y="3977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06078"/>
                </a:solidFill>
                <a:latin typeface="Menlo"/>
              </a:defRPr>
            </a:pPr>
            <a:r>
              <a:t>决策靠感觉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9377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6366F1"/>
                </a:solidFill>
                <a:latin typeface="Helvetica Neue"/>
              </a:rPr>
              <a:t>●  </a:t>
            </a:r>
            <a:r>
              <a:rPr sz="1400">
                <a:solidFill>
                  <a:srgbClr val="A0A0B8"/>
                </a:solidFill>
                <a:latin typeface="Helvetica Neue"/>
              </a:rPr>
              <a:t>中小机构（10-50 人）占市场 60%+，高度分散，绝大多数无技术团队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6366F1"/>
                </a:solidFill>
                <a:latin typeface="Helvetica Neue"/>
              </a:rPr>
              <a:t>●  </a:t>
            </a:r>
            <a:r>
              <a:rPr sz="1400">
                <a:solidFill>
                  <a:srgbClr val="A0A0B8"/>
                </a:solidFill>
                <a:latin typeface="Helvetica Neue"/>
              </a:rPr>
              <a:t>考研/公考/K12/职业资格 — 每个赛道都有数万家小机构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6366F1"/>
                </a:solidFill>
                <a:latin typeface="Helvetica Neue"/>
              </a:rPr>
              <a:t>●  </a:t>
            </a:r>
            <a:r>
              <a:rPr sz="1400">
                <a:solidFill>
                  <a:srgbClr val="A0A0B8"/>
                </a:solidFill>
                <a:latin typeface="Helvetica Neue"/>
              </a:rPr>
              <a:t>大厂 SaaS（校宝、小鹅通）解决管理问题，不解决教学效率问题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6366F1"/>
                </a:solidFill>
                <a:latin typeface="Helvetica Neue"/>
              </a:rPr>
              <a:t>●  </a:t>
            </a:r>
            <a:r>
              <a:rPr sz="1400">
                <a:solidFill>
                  <a:srgbClr val="A0A0B8"/>
                </a:solidFill>
                <a:latin typeface="Helvetica Neue"/>
              </a:rPr>
              <a:t>AI 教育工具（松鼠 AI 等）面向 C 端，不面向 B 端机构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06078"/>
                </a:solidFill>
                <a:latin typeface="Menlo"/>
              </a:defRPr>
            </a:pPr>
            <a:r>
              <a:t>2/16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18CF8"/>
                </a:solidFill>
                <a:latin typeface="Menlo"/>
              </a:defRPr>
            </a:pPr>
            <a:r>
              <a:t>THE FLYWHEEL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5"/>
                </a:solidFill>
                <a:latin typeface="Helvetica Neue"/>
              </a:defRPr>
            </a:pPr>
            <a:r>
              <a:t>核心价值：越用越聪明的闭环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728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8"/>
                </a:solidFill>
                <a:latin typeface="Helvetica Neue"/>
              </a:defRPr>
            </a:pPr>
            <a:r>
              <a:t>不是三个独立工具，是一个自我强化的数据飞轮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560320"/>
            <a:ext cx="3383280" cy="2743200"/>
          </a:xfrm>
          <a:prstGeom prst="roundRect">
            <a:avLst>
              <a:gd name="adj" fmla="val 5000"/>
            </a:avLst>
          </a:prstGeom>
          <a:solidFill>
            <a:srgbClr val="1A1A32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366F1"/>
                </a:solidFill>
                <a:latin typeface="Helvetica Neue"/>
              </a:defRPr>
            </a:pPr>
            <a:r>
              <a:t>① 教师 AI 出题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6324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78"/>
                </a:solidFill>
                <a:latin typeface="Menlo"/>
              </a:defRPr>
            </a:pPr>
            <a:r>
              <a:t>ARC 4-Agent 对抗引擎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29000"/>
            <a:ext cx="2834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8"/>
                </a:solidFill>
                <a:latin typeface="Helvetica Neue"/>
              </a:defRPr>
            </a:pPr>
            <a:r>
              <a:t>输入考点 → 4 Agent 互相审核</a:t>
            </a:r>
            <a:br/>
            <a:r>
              <a:t>85%+ 可直接用于课堂</a:t>
            </a:r>
            <a:br/>
            <a:r>
              <a:t>出题速度 50x 提升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33832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18CF8"/>
                </a:solidFill>
                <a:latin typeface="Helvetica Neue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560320"/>
            <a:ext cx="3383280" cy="2743200"/>
          </a:xfrm>
          <a:prstGeom prst="roundRect">
            <a:avLst>
              <a:gd name="adj" fmla="val 5000"/>
            </a:avLst>
          </a:prstGeom>
          <a:solidFill>
            <a:srgbClr val="1A1A32"/>
          </a:solidFill>
          <a:ln w="254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6974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D3EE"/>
                </a:solidFill>
                <a:latin typeface="Helvetica Neue"/>
              </a:defRPr>
            </a:pPr>
            <a:r>
              <a:t>② 学生自适应练习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06324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78"/>
                </a:solidFill>
                <a:latin typeface="Menlo"/>
              </a:defRPr>
            </a:pPr>
            <a:r>
              <a:t>AI 批改 + ELO 排位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429000"/>
            <a:ext cx="2834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8"/>
                </a:solidFill>
                <a:latin typeface="Helvetica Neue"/>
              </a:defRPr>
            </a:pPr>
            <a:r>
              <a:t>主观题自动评分</a:t>
            </a:r>
            <a:br/>
            <a:r>
              <a:t>难度教师锁定</a:t>
            </a:r>
            <a:br/>
            <a:r>
              <a:t>每次答题产生训练数据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33832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18CF8"/>
                </a:solidFill>
                <a:latin typeface="Helvetica Neue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59" y="2560320"/>
            <a:ext cx="3383280" cy="2743200"/>
          </a:xfrm>
          <a:prstGeom prst="roundRect">
            <a:avLst>
              <a:gd name="adj" fmla="val 5000"/>
            </a:avLst>
          </a:prstGeom>
          <a:solidFill>
            <a:srgbClr val="1A1A32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9" y="26974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Helvetica Neue"/>
              </a:defRPr>
            </a:pPr>
            <a:r>
              <a:t>③ Memorix 记忆沉淀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9" y="306324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78"/>
                </a:solidFill>
                <a:latin typeface="Menlo"/>
              </a:defRPr>
            </a:pPr>
            <a:r>
              <a:t>Weibull + 在线 SGD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9" y="3429000"/>
            <a:ext cx="2834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8"/>
                </a:solidFill>
                <a:latin typeface="Helvetica Neue"/>
              </a:defRPr>
            </a:pPr>
            <a:r>
              <a:t>20 维个人权重实时更新</a:t>
            </a:r>
            <a:br/>
            <a:r>
              <a:t>预测精度比 FSRS ↑13.7%</a:t>
            </a:r>
            <a:br/>
            <a:r>
              <a:t>用户留存 ↑9.2%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486400"/>
            <a:ext cx="10332720" cy="822960"/>
          </a:xfrm>
          <a:prstGeom prst="roundRect">
            <a:avLst>
              <a:gd name="adj" fmla="val 5000"/>
            </a:avLst>
          </a:prstGeom>
          <a:solidFill>
            <a:srgbClr val="16162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57784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2D3EE"/>
                </a:solidFill>
                <a:latin typeface="Helvetica Neue"/>
              </a:defRPr>
            </a:pPr>
            <a:r>
              <a:t>⟳ 飞轮：学生数据 → Memorix 发现薄弱点 → AI 生成更精准的题 → 效率 ↑ → 续费 ↑ → 更多数据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94360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59E0B"/>
                </a:solidFill>
                <a:latin typeface="Helvetica Neue"/>
              </a:defRPr>
            </a:pPr>
            <a:r>
              <a:t>数据飞轮 = 护城河。竞品只做了其中一环，UniMind 打通全链路。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06078"/>
                </a:solidFill>
                <a:latin typeface="Menlo"/>
              </a:defRPr>
            </a:pPr>
            <a:r>
              <a:t>3/16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18CF8"/>
                </a:solidFill>
                <a:latin typeface="Menlo"/>
              </a:defRPr>
            </a:pPr>
            <a:r>
              <a:t>MOAT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5"/>
                </a:solidFill>
                <a:latin typeface="Helvetica Neue"/>
              </a:defRPr>
            </a:pPr>
            <a:r>
              <a:t>Memorix 自适应记忆算法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728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8"/>
                </a:solidFill>
                <a:latin typeface="Helvetica Neue"/>
              </a:defRPr>
            </a:pPr>
            <a:r>
              <a:t>自研间隔重复算法 · 白皮书级严谨度 · 6 大创新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560320"/>
            <a:ext cx="3383280" cy="1645920"/>
          </a:xfrm>
          <a:prstGeom prst="roundRect">
            <a:avLst>
              <a:gd name="adj" fmla="val 5000"/>
            </a:avLst>
          </a:prstGeom>
          <a:solidFill>
            <a:srgbClr val="1A1A32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5"/>
                </a:solidFill>
                <a:latin typeface="Helvetica Neue"/>
              </a:defRPr>
            </a:pPr>
            <a:r>
              <a:t>Weibull 遗忘模型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004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>
                <a:solidFill>
                  <a:srgbClr val="6366F1"/>
                </a:solidFill>
                <a:latin typeface="Helvetica Neue"/>
              </a:rPr>
              <a:t>●  </a:t>
            </a:r>
            <a:r>
              <a:rPr sz="1300">
                <a:solidFill>
                  <a:srgbClr val="A0A0B8"/>
                </a:solidFill>
                <a:latin typeface="Helvetica Neue"/>
              </a:rPr>
              <a:t>R(t)=exp(-(t/λ)^k)
k 可学习，比幂律更贴合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560320"/>
            <a:ext cx="3383280" cy="1645920"/>
          </a:xfrm>
          <a:prstGeom prst="roundRect">
            <a:avLst>
              <a:gd name="adj" fmla="val 5000"/>
            </a:avLst>
          </a:prstGeom>
          <a:solidFill>
            <a:srgbClr val="1A1A32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7889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5"/>
                </a:solidFill>
                <a:latin typeface="Helvetica Neue"/>
              </a:defRPr>
            </a:pPr>
            <a:r>
              <a:t>在线 SGD + 力量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32004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>
                <a:solidFill>
                  <a:srgbClr val="6366F1"/>
                </a:solidFill>
                <a:latin typeface="Helvetica Neue"/>
              </a:rPr>
              <a:t>●  </a:t>
            </a:r>
            <a:r>
              <a:rPr sz="1300">
                <a:solidFill>
                  <a:srgbClr val="A0A0B8"/>
                </a:solidFill>
                <a:latin typeface="Helvetica Neue"/>
              </a:rPr>
              <a:t>每次答题后实时更新
Nesterov 力量加速收敛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59" y="2560320"/>
            <a:ext cx="3383280" cy="1645920"/>
          </a:xfrm>
          <a:prstGeom prst="roundRect">
            <a:avLst>
              <a:gd name="adj" fmla="val 5000"/>
            </a:avLst>
          </a:prstGeom>
          <a:solidFill>
            <a:srgbClr val="1A1A32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59" y="27889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5"/>
                </a:solidFill>
                <a:latin typeface="Helvetica Neue"/>
              </a:defRPr>
            </a:pPr>
            <a:r>
              <a:t>贝叶斯先验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59" y="32004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>
                <a:solidFill>
                  <a:srgbClr val="6366F1"/>
                </a:solidFill>
                <a:latin typeface="Helvetica Neue"/>
              </a:rPr>
              <a:t>●  </a:t>
            </a:r>
            <a:r>
              <a:rPr sz="1300">
                <a:solidFill>
                  <a:srgbClr val="A0A0B8"/>
                </a:solidFill>
                <a:latin typeface="Helvetica Neue"/>
              </a:rPr>
              <a:t>20 维个性化权重
L2 正则 → 冷启动快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480560"/>
            <a:ext cx="3383280" cy="1645920"/>
          </a:xfrm>
          <a:prstGeom prst="roundRect">
            <a:avLst>
              <a:gd name="adj" fmla="val 5000"/>
            </a:avLst>
          </a:prstGeom>
          <a:solidFill>
            <a:srgbClr val="1A1A32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7091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5"/>
                </a:solidFill>
                <a:latin typeface="Helvetica Neue"/>
              </a:defRPr>
            </a:pPr>
            <a:r>
              <a:t>Brier Score 损失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12064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>
                <a:solidFill>
                  <a:srgbClr val="6366F1"/>
                </a:solidFill>
                <a:latin typeface="Helvetica Neue"/>
              </a:rPr>
              <a:t>●  </a:t>
            </a:r>
            <a:r>
              <a:rPr sz="1300">
                <a:solidFill>
                  <a:srgbClr val="A0A0B8"/>
                </a:solidFill>
                <a:latin typeface="Helvetica Neue"/>
              </a:rPr>
              <a:t>严格 proper scoring
概率校准保证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4480560"/>
            <a:ext cx="3383280" cy="1645920"/>
          </a:xfrm>
          <a:prstGeom prst="roundRect">
            <a:avLst>
              <a:gd name="adj" fmla="val 5000"/>
            </a:avLst>
          </a:prstGeom>
          <a:solidFill>
            <a:srgbClr val="1A1A32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7720" y="47091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5"/>
                </a:solidFill>
                <a:latin typeface="Helvetica Neue"/>
              </a:defRPr>
            </a:pPr>
            <a:r>
              <a:t>遗憾最小化调度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512064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>
                <a:solidFill>
                  <a:srgbClr val="6366F1"/>
                </a:solidFill>
                <a:latin typeface="Helvetica Neue"/>
              </a:rPr>
              <a:t>●  </a:t>
            </a:r>
            <a:r>
              <a:rPr sz="1300">
                <a:solidFill>
                  <a:srgbClr val="A0A0B8"/>
                </a:solidFill>
                <a:latin typeface="Helvetica Neue"/>
              </a:rPr>
              <a:t>平衡遗忘风险
与复习机会成本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59" y="4480560"/>
            <a:ext cx="3383280" cy="1645920"/>
          </a:xfrm>
          <a:prstGeom prst="roundRect">
            <a:avLst>
              <a:gd name="adj" fmla="val 5000"/>
            </a:avLst>
          </a:prstGeom>
          <a:solidFill>
            <a:srgbClr val="1A1A32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59" y="47091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5"/>
                </a:solidFill>
                <a:latin typeface="Helvetica Neue"/>
              </a:defRPr>
            </a:pPr>
            <a:r>
              <a:t>知识嵌入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59" y="512064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>
                <a:solidFill>
                  <a:srgbClr val="6366F1"/>
                </a:solidFill>
                <a:latin typeface="Helvetica Neue"/>
              </a:rPr>
              <a:t>●  </a:t>
            </a:r>
            <a:r>
              <a:rPr sz="1300">
                <a:solidFill>
                  <a:srgbClr val="A0A0B8"/>
                </a:solidFill>
                <a:latin typeface="Helvetica Neue"/>
              </a:rPr>
              <a:t>8 维向量 + 用户对齐
跨知识点迁移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78"/>
                </a:solidFill>
                <a:latin typeface="Menlo"/>
              </a:defRPr>
            </a:pPr>
            <a:r>
              <a:t>验证：431 金融考研 · 500+ 用户 · 120K+ 记录 · RMSE -13.7% · 留存 +9.2%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06078"/>
                </a:solidFill>
                <a:latin typeface="Menlo"/>
              </a:defRPr>
            </a:pPr>
            <a:r>
              <a:t>4/16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18CF8"/>
                </a:solidFill>
                <a:latin typeface="Menlo"/>
              </a:defRPr>
            </a:pPr>
            <a:r>
              <a:t>MOAT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5"/>
                </a:solidFill>
                <a:latin typeface="Helvetica Neue"/>
              </a:defRPr>
            </a:pPr>
            <a:r>
              <a:t>4-Agent 对抗出题管线（ARC）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728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8"/>
                </a:solidFill>
                <a:latin typeface="Helvetica Neue"/>
              </a:defRPr>
            </a:pPr>
            <a:r>
              <a:t>Reviewer 带自主研究工具，可查询知识库后审核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43200"/>
            <a:ext cx="2468880" cy="1097280"/>
          </a:xfrm>
          <a:prstGeom prst="roundRect">
            <a:avLst>
              <a:gd name="adj" fmla="val 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F0F5"/>
                </a:solidFill>
                <a:latin typeface="Helvetica Neue"/>
              </a:defRPr>
            </a:pPr>
            <a:r>
              <a:t>Author</a:t>
            </a:r>
            <a:br/>
            <a:r>
              <a:t>生成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30175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06078"/>
                </a:solidFill>
                <a:latin typeface="Helvetica Neue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2743200"/>
            <a:ext cx="2468880" cy="1097280"/>
          </a:xfrm>
          <a:prstGeom prst="roundRect">
            <a:avLst>
              <a:gd name="adj" fmla="val 5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283464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F0F5"/>
                </a:solidFill>
                <a:latin typeface="Helvetica Neue"/>
              </a:defRPr>
            </a:pPr>
            <a:r>
              <a:t>Reviewer</a:t>
            </a:r>
            <a:br/>
            <a:r>
              <a:t>审核+工具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30175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06078"/>
                </a:solidFill>
                <a:latin typeface="Helvetica Neue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743200"/>
            <a:ext cx="2468880" cy="1097280"/>
          </a:xfrm>
          <a:prstGeom prst="roundRect">
            <a:avLst>
              <a:gd name="adj" fmla="val 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83464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F0F5"/>
                </a:solidFill>
                <a:latin typeface="Helvetica Neue"/>
              </a:defRPr>
            </a:pPr>
            <a:r>
              <a:t>AuthorRevise</a:t>
            </a:r>
            <a:br/>
            <a:r>
              <a:t>修正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30175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06078"/>
                </a:solidFill>
                <a:latin typeface="Helvetica Neue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2743200"/>
            <a:ext cx="2468880" cy="1097280"/>
          </a:xfrm>
          <a:prstGeom prst="roundRect">
            <a:avLst>
              <a:gd name="adj" fmla="val 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283464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F0F5"/>
                </a:solidFill>
                <a:latin typeface="Helvetica Neue"/>
              </a:defRPr>
            </a:pPr>
            <a:r>
              <a:t>Classifier</a:t>
            </a:r>
            <a:br/>
            <a:r>
              <a:t>审计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0233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06078"/>
                </a:solidFill>
                <a:latin typeface="Menlo"/>
              </a:defRPr>
            </a:pPr>
            <a:r>
              <a:t>最多 3 轮 · 阈值 0.7 · 难度教师锁定（AI 不能改）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5720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6366F1"/>
                </a:solidFill>
                <a:latin typeface="Helvetica Neue"/>
              </a:rPr>
              <a:t>●  </a:t>
            </a:r>
            <a:r>
              <a:rPr sz="1400">
                <a:solidFill>
                  <a:srgbClr val="A0A0B8"/>
                </a:solidFill>
                <a:latin typeface="Helvetica Neue"/>
              </a:rPr>
              <a:t>Reviewer 可自主调用 lookup_definition() 和 search_similar() 查询知识库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6366F1"/>
                </a:solidFill>
                <a:latin typeface="Helvetica Neue"/>
              </a:rPr>
              <a:t>●  </a:t>
            </a:r>
            <a:r>
              <a:rPr sz="1400">
                <a:solidFill>
                  <a:srgbClr val="A0A0B8"/>
                </a:solidFill>
                <a:latin typeface="Helvetica Neue"/>
              </a:rPr>
              <a:t>3 维评分：区分度、清晰度、知识覆盖度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6366F1"/>
                </a:solidFill>
                <a:latin typeface="Helvetica Neue"/>
              </a:rPr>
              <a:t>●  </a:t>
            </a:r>
            <a:r>
              <a:rPr sz="1400">
                <a:solidFill>
                  <a:srgbClr val="A0A0B8"/>
                </a:solidFill>
                <a:latin typeface="Helvetica Neue"/>
              </a:rPr>
              <a:t>难度控制外生：教师锁定 → Classifier 检测偏差 → 人工审核队列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06078"/>
                </a:solidFill>
                <a:latin typeface="Menlo"/>
              </a:defRPr>
            </a:pPr>
            <a:r>
              <a:t>5/16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18CF8"/>
                </a:solidFill>
                <a:latin typeface="Menlo"/>
              </a:defRPr>
            </a:pPr>
            <a:r>
              <a:t>MOAT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5"/>
                </a:solidFill>
                <a:latin typeface="Helvetica Neue"/>
              </a:defRPr>
            </a:pPr>
            <a:r>
              <a:t>AI 引擎架构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728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8"/>
                </a:solidFill>
                <a:latin typeface="Helvetica Neue"/>
              </a:defRPr>
            </a:pPr>
            <a:r>
              <a:t>Provider 无关，热切换，只改 2 个常量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18CF8"/>
                </a:solidFill>
                <a:latin typeface="Helvetica Neue"/>
              </a:defRPr>
            </a:pPr>
            <a:r>
              <a:t>●  Prompt as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56032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8"/>
                </a:solidFill>
                <a:latin typeface="Helvetica Neue"/>
              </a:defRPr>
            </a:pPr>
            <a:r>
              <a:t>文件模板 + DB 版本历史 + 一键回滚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18687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18CF8"/>
                </a:solidFill>
                <a:latin typeface="Helvetica Neue"/>
              </a:defRPr>
            </a:pPr>
            <a:r>
              <a:t>●  Schema 强制输出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3218687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8"/>
                </a:solidFill>
                <a:latin typeface="Helvetica Neue"/>
              </a:defRPr>
            </a:pPr>
            <a:r>
              <a:t>tool_choice="required" + JSON Schema，零解析失败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7705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18CF8"/>
                </a:solidFill>
                <a:latin typeface="Helvetica Neue"/>
              </a:defRPr>
            </a:pPr>
            <a:r>
              <a:t>●  模型路由集中化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877056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8"/>
                </a:solidFill>
                <a:latin typeface="Helvetica Neue"/>
              </a:defRPr>
            </a:pPr>
            <a:r>
              <a:t>config.py 单点控制，provider 热切换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53542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18CF8"/>
                </a:solidFill>
                <a:latin typeface="Helvetica Neue"/>
              </a:defRPr>
            </a:pPr>
            <a:r>
              <a:t>●  熔断器模式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4535424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8"/>
                </a:solidFill>
                <a:latin typeface="Helvetica Neue"/>
              </a:defRPr>
            </a:pPr>
            <a:r>
              <a:t>5 次失败 → 熔断 → 5min 后半开探测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1937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18CF8"/>
                </a:solidFill>
                <a:latin typeface="Helvetica Neue"/>
              </a:defRPr>
            </a:pPr>
            <a:r>
              <a:t>●  降级策略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5193792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8"/>
                </a:solidFill>
                <a:latin typeface="Helvetica Neue"/>
              </a:defRPr>
            </a:pPr>
            <a:r>
              <a:t>AI 失败 → 人工题库 / 标准答案 / 保存进度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5215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18CF8"/>
                </a:solidFill>
                <a:latin typeface="Helvetica Neue"/>
              </a:defRPr>
            </a:pPr>
            <a:r>
              <a:t>●  模型分层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5852159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8"/>
                </a:solidFill>
                <a:latin typeface="Helvetica Neue"/>
              </a:defRPr>
            </a:pPr>
            <a:r>
              <a:t>fast（对话/出题）+ pro（审核/判分/知识树）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78"/>
                </a:solidFill>
                <a:latin typeface="Menlo"/>
              </a:defRPr>
            </a:pPr>
            <a:r>
              <a:t>Provider 无关：当前 MiMo V2.5，切换只需改 2 个常量 · thinking + tool_choice 不冲突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06078"/>
                </a:solidFill>
                <a:latin typeface="Menlo"/>
              </a:defRPr>
            </a:pPr>
            <a:r>
              <a:t>6/16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18CF8"/>
                </a:solidFill>
                <a:latin typeface="Menlo"/>
              </a:defRPr>
            </a:pPr>
            <a:r>
              <a:t>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5"/>
                </a:solidFill>
                <a:latin typeface="Helvetica Neue"/>
              </a:defRPr>
            </a:pPr>
            <a:r>
              <a:t>产品全景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728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560320"/>
            <a:ext cx="10515600" cy="777240"/>
          </a:xfrm>
          <a:prstGeom prst="roundRect">
            <a:avLst>
              <a:gd name="adj" fmla="val 5000"/>
            </a:avLst>
          </a:prstGeom>
          <a:solidFill>
            <a:srgbClr val="16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69748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B8"/>
                </a:solidFill>
                <a:latin typeface="Helvetica Neue"/>
              </a:defRPr>
            </a:pPr>
            <a:r>
              <a:t>学员端 · 教师端 · 管理端 · 机构品牌页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520439"/>
            <a:ext cx="10515600" cy="777240"/>
          </a:xfrm>
          <a:prstGeom prst="roundRect">
            <a:avLst>
              <a:gd name="adj" fmla="val 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657599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0F0F5"/>
                </a:solidFill>
                <a:latin typeface="Helvetica Neue"/>
              </a:defRPr>
            </a:pPr>
            <a:r>
              <a:t>AI 出题 · 自适应复习 · AI 批改 · 知识图谱 · AI 助教 · 视频 · 面试 · 自习室 · 答疑 · PDF 模考 · 学情报告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480560"/>
            <a:ext cx="10515600" cy="777240"/>
          </a:xfrm>
          <a:prstGeom prst="roundRect">
            <a:avLst>
              <a:gd name="adj" fmla="val 5000"/>
            </a:avLst>
          </a:prstGeom>
          <a:solidFill>
            <a:srgbClr val="10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6177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B8"/>
                </a:solidFill>
                <a:latin typeface="Helvetica Neue"/>
              </a:defRPr>
            </a:pPr>
            <a:r>
              <a:t>AI 引擎 · 熔断器 · WebSocket · RBAC · 加密字段 · 多租户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440680"/>
            <a:ext cx="10515600" cy="777240"/>
          </a:xfrm>
          <a:prstGeom prst="roundRect">
            <a:avLst>
              <a:gd name="adj" fmla="val 5000"/>
            </a:avLst>
          </a:prstGeom>
          <a:solidFill>
            <a:srgbClr val="1A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5778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06078"/>
                </a:solidFill>
                <a:latin typeface="Helvetica Neue"/>
              </a:defRPr>
            </a:pPr>
            <a:r>
              <a:t>Django 6.0 + React 19 + PostgreSQL | Celery + Redis + Daphne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06078"/>
                </a:solidFill>
                <a:latin typeface="Menlo"/>
              </a:defRPr>
            </a:pPr>
            <a:r>
              <a:t>7/16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18CF8"/>
                </a:solidFill>
                <a:latin typeface="Menlo"/>
              </a:defRPr>
            </a:pPr>
            <a:r>
              <a:t>TECH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5"/>
                </a:solidFill>
                <a:latin typeface="Helvetica Neue"/>
              </a:defRPr>
            </a:pPr>
            <a:r>
              <a:t>技术栈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728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18CF8"/>
                </a:solidFill>
                <a:latin typeface="Helvetica Neue"/>
              </a:defRPr>
            </a:pPr>
            <a:r>
              <a:t>前端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37744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8"/>
                </a:solidFill>
                <a:latin typeface="Helvetica Neue"/>
              </a:defRPr>
            </a:pPr>
            <a:r>
              <a:t>React 19 + TypeScript + Vite + shadcn/ui + Tailwind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18CF8"/>
                </a:solidFill>
                <a:latin typeface="Helvetica Neue"/>
              </a:defRPr>
            </a:pPr>
            <a:r>
              <a:t>后端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83464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8"/>
                </a:solidFill>
                <a:latin typeface="Helvetica Neue"/>
              </a:defRPr>
            </a:pPr>
            <a:r>
              <a:t>Django 6.0 + DRF 3.16 + Python 3.12+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18CF8"/>
                </a:solidFill>
                <a:latin typeface="Helvetica Neue"/>
              </a:defRPr>
            </a:pPr>
            <a:r>
              <a:t>实时通信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329184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8"/>
                </a:solidFill>
                <a:latin typeface="Helvetica Neue"/>
              </a:defRPr>
            </a:pPr>
            <a:r>
              <a:t>Django Channels 4.3 + Daphne 4.2（WebSocket）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490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18CF8"/>
                </a:solidFill>
                <a:latin typeface="Helvetica Neue"/>
              </a:defRPr>
            </a:pPr>
            <a:r>
              <a:t>异步任务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749039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8"/>
                </a:solidFill>
                <a:latin typeface="Helvetica Neue"/>
              </a:defRPr>
            </a:pPr>
            <a:r>
              <a:t>Celery 5.4 + Redis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06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18CF8"/>
                </a:solidFill>
                <a:latin typeface="Helvetica Neue"/>
              </a:defRPr>
            </a:pPr>
            <a:r>
              <a:t>数据库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420624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8"/>
                </a:solidFill>
                <a:latin typeface="Helvetica Neue"/>
              </a:defRPr>
            </a:pPr>
            <a:r>
              <a:t>PostgreSQL（生产）/ SQLite（开发）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663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18CF8"/>
                </a:solidFill>
                <a:latin typeface="Helvetica Neue"/>
              </a:defRPr>
            </a:pPr>
            <a:r>
              <a:t>AI 引擎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466344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8"/>
                </a:solidFill>
                <a:latin typeface="Helvetica Neue"/>
              </a:defRPr>
            </a:pPr>
            <a:r>
              <a:t>MiMo V2.5（可热切换任意 LLM provider）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120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18CF8"/>
                </a:solidFill>
                <a:latin typeface="Helvetica Neue"/>
              </a:defRPr>
            </a:pPr>
            <a:r>
              <a:t>部署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512064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8"/>
                </a:solidFill>
                <a:latin typeface="Helvetica Neue"/>
              </a:defRPr>
            </a:pPr>
            <a:r>
              <a:t>Nginx + Daphne x3 + Celery Worker x2 + systemd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577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18CF8"/>
                </a:solidFill>
                <a:latin typeface="Helvetica Neue"/>
              </a:defRPr>
            </a:pPr>
            <a:r>
              <a:t>CI/CD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557784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8"/>
                </a:solidFill>
                <a:latin typeface="Helvetica Neue"/>
              </a:defRPr>
            </a:pPr>
            <a:r>
              <a:t>GitHub Actions（pip-audit + npm audit + build + smoke test）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035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18CF8"/>
                </a:solidFill>
                <a:latin typeface="Helvetica Neue"/>
              </a:defRPr>
            </a:pPr>
            <a:r>
              <a:t>i18n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603504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8"/>
                </a:solidFill>
                <a:latin typeface="Helvetica Neue"/>
              </a:defRPr>
            </a:pPr>
            <a:r>
              <a:t>i18next 中英文双语（20 namespace）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06078"/>
                </a:solidFill>
                <a:latin typeface="Menlo"/>
              </a:defRPr>
            </a:pPr>
            <a:r>
              <a:t>8/16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18CF8"/>
                </a:solidFill>
                <a:latin typeface="Menlo"/>
              </a:defRPr>
            </a:pPr>
            <a:r>
              <a:t>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5"/>
                </a:solidFill>
                <a:latin typeface="Helvetica Neue"/>
              </a:defRPr>
            </a:pPr>
            <a:r>
              <a:t>安全与合规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728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18CF8"/>
                </a:solidFill>
                <a:latin typeface="Helvetica Neue"/>
              </a:defRPr>
            </a:pPr>
            <a:r>
              <a:t>●  认证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97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8"/>
                </a:solidFill>
                <a:latin typeface="Helvetica Neue"/>
              </a:defRPr>
            </a:pPr>
            <a:r>
              <a:t>Cookie-first Token 认证 + Authorization header fallback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377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18CF8"/>
                </a:solidFill>
                <a:latin typeface="Helvetica Neue"/>
              </a:defRPr>
            </a:pPr>
            <a:r>
              <a:t>●  加密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697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8"/>
                </a:solidFill>
                <a:latin typeface="Helvetica Neue"/>
              </a:defRPr>
            </a:pPr>
            <a:r>
              <a:t>Fernet AES 加密支付密钥、敏感字段，ENCRYPTION_KEY 环境变量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29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18CF8"/>
                </a:solidFill>
                <a:latin typeface="Helvetica Neue"/>
              </a:defRPr>
            </a:pPr>
            <a:r>
              <a:t>●  权限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49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8"/>
                </a:solidFill>
                <a:latin typeface="Helvetica Neue"/>
              </a:defRPr>
            </a:pPr>
            <a:r>
              <a:t>三层 RBAC：平台角色 ∩ 机构角色 ∩ 方案等级 = 有效权限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3429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18CF8"/>
                </a:solidFill>
                <a:latin typeface="Helvetica Neue"/>
              </a:defRPr>
            </a:pPr>
            <a:r>
              <a:t>●  多租户隔离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749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8"/>
                </a:solidFill>
                <a:latin typeface="Helvetica Neue"/>
              </a:defRPr>
            </a:pPr>
            <a:r>
              <a:t>queryset 级别数据隔离，机构用户只能看自己数据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80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18CF8"/>
                </a:solidFill>
                <a:latin typeface="Helvetica Neue"/>
              </a:defRPr>
            </a:pPr>
            <a:r>
              <a:t>●  安全头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800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8"/>
                </a:solidFill>
                <a:latin typeface="Helvetica Neue"/>
              </a:defRPr>
            </a:pPr>
            <a:r>
              <a:t>HSTS / X-Frame-Options DENY / X-Content-Type-Options nosniff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4480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18CF8"/>
                </a:solidFill>
                <a:latin typeface="Helvetica Neue"/>
              </a:defRPr>
            </a:pPr>
            <a:r>
              <a:t>●  熔断器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800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8"/>
                </a:solidFill>
                <a:latin typeface="Helvetica Neue"/>
              </a:defRPr>
            </a:pPr>
            <a:r>
              <a:t>AI 服务连续失败自动熔断，降级到人工题库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532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18CF8"/>
                </a:solidFill>
                <a:latin typeface="Helvetica Neue"/>
              </a:defRPr>
            </a:pPr>
            <a:r>
              <a:t>●  限流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852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8"/>
                </a:solidFill>
                <a:latin typeface="Helvetica Neue"/>
              </a:defRPr>
            </a:pPr>
            <a:r>
              <a:t>登录/注册/验证码接口滑动窗口限流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5532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18CF8"/>
                </a:solidFill>
                <a:latin typeface="Helvetica Neue"/>
              </a:defRPr>
            </a:pPr>
            <a:r>
              <a:t>●  备份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5852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8"/>
                </a:solidFill>
                <a:latin typeface="Helvetica Neue"/>
              </a:defRPr>
            </a:pPr>
            <a:r>
              <a:t>自动 pg_dump 压缩备份，30 天自动清理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06078"/>
                </a:solidFill>
                <a:latin typeface="Menlo"/>
              </a:defRPr>
            </a:pPr>
            <a:r>
              <a:t>9/16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18CF8"/>
                </a:solidFill>
                <a:latin typeface="Menlo"/>
              </a:defRPr>
            </a:pPr>
            <a:r>
              <a:t>BUSINESS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5"/>
                </a:solidFill>
                <a:latin typeface="Helvetica Neue"/>
              </a:defRPr>
            </a:pPr>
            <a:r>
              <a:t>商业模式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728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8"/>
                </a:solidFill>
                <a:latin typeface="Helvetica Neue"/>
              </a:defRPr>
            </a:pPr>
            <a:r>
              <a:t>SaaS 订阅 + 4 级定价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2560320"/>
          <a:ext cx="89611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188720"/>
                <a:gridCol w="1097280"/>
                <a:gridCol w="1097280"/>
                <a:gridCol w="22860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818CF8"/>
                          </a:solidFill>
                          <a:latin typeface="Menlo"/>
                        </a:defRPr>
                      </a:pPr>
                      <a:r>
                        <a:t>方案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818CF8"/>
                          </a:solidFill>
                          <a:latin typeface="Menlo"/>
                        </a:defRPr>
                      </a:pPr>
                      <a:r>
                        <a:t>月价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818CF8"/>
                          </a:solidFill>
                          <a:latin typeface="Menlo"/>
                        </a:defRPr>
                      </a:pPr>
                      <a:r>
                        <a:t>学生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818CF8"/>
                          </a:solidFill>
                          <a:latin typeface="Menlo"/>
                        </a:defRPr>
                      </a:pPr>
                      <a:r>
                        <a:t>教师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818CF8"/>
                          </a:solidFill>
                          <a:latin typeface="Menlo"/>
                        </a:defRPr>
                      </a:pPr>
                      <a:r>
                        <a:t>目标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818CF8"/>
                          </a:solidFill>
                          <a:latin typeface="Menlo"/>
                        </a:defRPr>
                      </a:pPr>
                      <a:r>
                        <a:t>年化 ARPU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Free</a:t>
                      </a:r>
                    </a:p>
                  </a:txBody>
                  <a:tcPr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¥0</a:t>
                      </a:r>
                    </a:p>
                  </a:txBody>
                  <a:tcPr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工作室</a:t>
                      </a:r>
                    </a:p>
                  </a:txBody>
                  <a:tcPr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¥0</a:t>
                      </a:r>
                    </a:p>
                  </a:txBody>
                  <a:tcPr>
                    <a:solidFill>
                      <a:srgbClr val="1A1A3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Starter</a:t>
                      </a:r>
                    </a:p>
                  </a:txBody>
                  <a:tcPr>
                    <a:solidFill>
                      <a:srgbClr val="1010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¥499</a:t>
                      </a:r>
                    </a:p>
                  </a:txBody>
                  <a:tcPr>
                    <a:solidFill>
                      <a:srgbClr val="1010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1010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010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独立教师</a:t>
                      </a:r>
                    </a:p>
                  </a:txBody>
                  <a:tcPr>
                    <a:solidFill>
                      <a:srgbClr val="1010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¥5,988</a:t>
                      </a:r>
                    </a:p>
                  </a:txBody>
                  <a:tcPr>
                    <a:solidFill>
                      <a:srgbClr val="10102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Growth</a:t>
                      </a:r>
                    </a:p>
                  </a:txBody>
                  <a:tcPr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¥1,299</a:t>
                      </a:r>
                    </a:p>
                  </a:txBody>
                  <a:tcPr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200</a:t>
                      </a:r>
                    </a:p>
                  </a:txBody>
                  <a:tcPr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培训机构</a:t>
                      </a:r>
                    </a:p>
                  </a:txBody>
                  <a:tcPr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¥15,588</a:t>
                      </a:r>
                    </a:p>
                  </a:txBody>
                  <a:tcPr>
                    <a:solidFill>
                      <a:srgbClr val="1A1A3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Enterprise</a:t>
                      </a:r>
                    </a:p>
                  </a:txBody>
                  <a:tcPr>
                    <a:solidFill>
                      <a:srgbClr val="1010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¥3,999</a:t>
                      </a:r>
                    </a:p>
                  </a:txBody>
                  <a:tcPr>
                    <a:solidFill>
                      <a:srgbClr val="1010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不限</a:t>
                      </a:r>
                    </a:p>
                  </a:txBody>
                  <a:tcPr>
                    <a:solidFill>
                      <a:srgbClr val="1010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不限</a:t>
                      </a:r>
                    </a:p>
                  </a:txBody>
                  <a:tcPr>
                    <a:solidFill>
                      <a:srgbClr val="1010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连锁品牌</a:t>
                      </a:r>
                    </a:p>
                  </a:txBody>
                  <a:tcPr>
                    <a:solidFill>
                      <a:srgbClr val="1010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¥47,988</a:t>
                      </a:r>
                    </a:p>
                  </a:txBody>
                  <a:tcPr>
                    <a:solidFill>
                      <a:srgbClr val="101020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4754880"/>
            <a:ext cx="5303520" cy="1645920"/>
          </a:xfrm>
          <a:prstGeom prst="roundRect">
            <a:avLst>
              <a:gd name="adj" fmla="val 5000"/>
            </a:avLst>
          </a:prstGeom>
          <a:solidFill>
            <a:srgbClr val="1A1A32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9834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5"/>
                </a:solidFill>
                <a:latin typeface="Helvetica Neue"/>
              </a:defRPr>
            </a:pPr>
            <a:r>
              <a:t>单位经济学（Growth）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39496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>
                <a:solidFill>
                  <a:srgbClr val="6366F1"/>
                </a:solidFill>
                <a:latin typeface="Helvetica Neue"/>
              </a:rPr>
              <a:t>●  </a:t>
            </a:r>
            <a:r>
              <a:rPr sz="1300">
                <a:solidFill>
                  <a:srgbClr val="A0A0B8"/>
                </a:solidFill>
                <a:latin typeface="Helvetica Neue"/>
              </a:rPr>
              <a:t>LTV（24 月）：¥31,176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6366F1"/>
                </a:solidFill>
                <a:latin typeface="Helvetica Neue"/>
              </a:rPr>
              <a:t>●  </a:t>
            </a:r>
            <a:r>
              <a:rPr sz="1300">
                <a:solidFill>
                  <a:srgbClr val="A0A0B8"/>
                </a:solidFill>
                <a:latin typeface="Helvetica Neue"/>
              </a:rPr>
              <a:t>CAC：~¥2,000-5,000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6366F1"/>
                </a:solidFill>
                <a:latin typeface="Helvetica Neue"/>
              </a:rPr>
              <a:t>●  </a:t>
            </a:r>
            <a:r>
              <a:rPr sz="1300">
                <a:solidFill>
                  <a:srgbClr val="A0A0B8"/>
                </a:solidFill>
                <a:latin typeface="Helvetica Neue"/>
              </a:rPr>
              <a:t>LTV/CAC：6-19x（健康）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4754880"/>
            <a:ext cx="5303520" cy="1645920"/>
          </a:xfrm>
          <a:prstGeom prst="roundRect">
            <a:avLst>
              <a:gd name="adj" fmla="val 5000"/>
            </a:avLst>
          </a:prstGeom>
          <a:solidFill>
            <a:srgbClr val="1A1A32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49834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5"/>
                </a:solidFill>
                <a:latin typeface="Helvetica Neue"/>
              </a:defRPr>
            </a:pPr>
            <a:r>
              <a:t>增长引擎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539496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>
                <a:solidFill>
                  <a:srgbClr val="6366F1"/>
                </a:solidFill>
                <a:latin typeface="Helvetica Neue"/>
              </a:rPr>
              <a:t>●  </a:t>
            </a:r>
            <a:r>
              <a:rPr sz="1300">
                <a:solidFill>
                  <a:srgbClr val="A0A0B8"/>
                </a:solidFill>
                <a:latin typeface="Helvetica Neue"/>
              </a:rPr>
              <a:t>Freemium 漏斗：Free → Starter → Growth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6366F1"/>
                </a:solidFill>
                <a:latin typeface="Helvetica Neue"/>
              </a:rPr>
              <a:t>●  </a:t>
            </a:r>
            <a:r>
              <a:rPr sz="1300">
                <a:solidFill>
                  <a:srgbClr val="A0A0B8"/>
                </a:solidFill>
                <a:latin typeface="Helvetica Neue"/>
              </a:rPr>
              <a:t>学生数 ↑ → 方案升级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6366F1"/>
                </a:solidFill>
                <a:latin typeface="Helvetica Neue"/>
              </a:rPr>
              <a:t>●  </a:t>
            </a:r>
            <a:r>
              <a:rPr sz="1300">
                <a:solidFill>
                  <a:srgbClr val="A0A0B8"/>
                </a:solidFill>
                <a:latin typeface="Helvetica Neue"/>
              </a:rPr>
              <a:t>年付 8 折锁定现金流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06078"/>
                </a:solidFill>
                <a:latin typeface="Menlo"/>
              </a:defRPr>
            </a:pPr>
            <a:r>
              <a:t>10/16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18CF8"/>
                </a:solidFill>
                <a:latin typeface="Menlo"/>
              </a:defRPr>
            </a:pPr>
            <a:r>
              <a:t>GTM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5"/>
                </a:solidFill>
                <a:latin typeface="Helvetica Neue"/>
              </a:defRPr>
            </a:pPr>
            <a:r>
              <a:t>市场策略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728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8"/>
                </a:solidFill>
                <a:latin typeface="Helvetica Neue"/>
              </a:defRPr>
            </a:pPr>
            <a:r>
              <a:t>分阶段 GTM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560320"/>
            <a:ext cx="3383280" cy="2103120"/>
          </a:xfrm>
          <a:prstGeom prst="roundRect">
            <a:avLst>
              <a:gd name="adj" fmla="val 5000"/>
            </a:avLst>
          </a:prstGeom>
          <a:solidFill>
            <a:srgbClr val="1A1A32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Helvetica Neue"/>
              </a:defRPr>
            </a:pPr>
            <a:r>
              <a:t>P0 · 0-6 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5"/>
                </a:solidFill>
                <a:latin typeface="Helvetica Neue"/>
              </a:defRPr>
            </a:pPr>
            <a:r>
              <a:t>10+ 付费 · ¥50 万 ARR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8"/>
                </a:solidFill>
                <a:latin typeface="Helvetica Neue"/>
              </a:defRPr>
            </a:pPr>
            <a:r>
              <a:t>考研/公考中小机构</a:t>
            </a:r>
            <a:br/>
            <a:r>
              <a:t>14 天试用 + 人工陪跑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560320"/>
            <a:ext cx="3383280" cy="2103120"/>
          </a:xfrm>
          <a:prstGeom prst="roundRect">
            <a:avLst>
              <a:gd name="adj" fmla="val 5000"/>
            </a:avLst>
          </a:prstGeom>
          <a:solidFill>
            <a:srgbClr val="1A1A32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6974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Helvetica Neue"/>
              </a:defRPr>
            </a:pPr>
            <a:r>
              <a:t>P1 · 6-12 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0175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5"/>
                </a:solidFill>
                <a:latin typeface="Helvetica Neue"/>
              </a:defRPr>
            </a:pPr>
            <a:r>
              <a:t>50+ 机构 · ¥200 万 ARR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38328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8"/>
                </a:solidFill>
                <a:latin typeface="Helvetica Neue"/>
              </a:defRPr>
            </a:pPr>
            <a:r>
              <a:t>K12 + 职业资格</a:t>
            </a:r>
            <a:br/>
            <a:r>
              <a:t>内容营销 + 渠道合作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59" y="2560320"/>
            <a:ext cx="3383280" cy="2103120"/>
          </a:xfrm>
          <a:prstGeom prst="roundRect">
            <a:avLst>
              <a:gd name="adj" fmla="val 5000"/>
            </a:avLst>
          </a:prstGeom>
          <a:solidFill>
            <a:srgbClr val="1A1A32"/>
          </a:solidFill>
          <a:ln w="254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9" y="26974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D3EE"/>
                </a:solidFill>
                <a:latin typeface="Helvetica Neue"/>
              </a:defRPr>
            </a:pPr>
            <a:r>
              <a:t>P2 · 12-24 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9" y="30175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5"/>
                </a:solidFill>
                <a:latin typeface="Helvetica Neue"/>
              </a:defRPr>
            </a:pPr>
            <a:r>
              <a:t>200+ 机构 · ¥800 万 ARR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9" y="338328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8"/>
                </a:solidFill>
                <a:latin typeface="Helvetica Neue"/>
              </a:defRPr>
            </a:pPr>
            <a:r>
              <a:t>连锁品牌 + 出海</a:t>
            </a:r>
            <a:br/>
            <a:r>
              <a:t>Stripe USD 结算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029200"/>
            <a:ext cx="2011680" cy="594360"/>
          </a:xfrm>
          <a:prstGeom prst="roundRect">
            <a:avLst>
              <a:gd name="adj" fmla="val 5000"/>
            </a:avLst>
          </a:prstGeom>
          <a:solidFill>
            <a:srgbClr val="16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0749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0F0F5"/>
                </a:solidFill>
                <a:latin typeface="Helvetica Neue"/>
              </a:defRPr>
            </a:pPr>
            <a:r>
              <a:t>线索 2-3/周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51206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06078"/>
                </a:solidFill>
                <a:latin typeface="Helvetica Neue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0" y="5029200"/>
            <a:ext cx="2011680" cy="594360"/>
          </a:xfrm>
          <a:prstGeom prst="roundRect">
            <a:avLst>
              <a:gd name="adj" fmla="val 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0" y="50749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0F0F5"/>
                </a:solidFill>
                <a:latin typeface="Helvetica Neue"/>
              </a:defRPr>
            </a:pPr>
            <a:r>
              <a:t>试用注册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51206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06078"/>
                </a:solidFill>
                <a:latin typeface="Helvetica Neue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0" y="5029200"/>
            <a:ext cx="2011680" cy="594360"/>
          </a:xfrm>
          <a:prstGeom prst="roundRect">
            <a:avLst>
              <a:gd name="adj" fmla="val 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0" y="50749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0F0F5"/>
                </a:solidFill>
                <a:latin typeface="Helvetica Neue"/>
              </a:defRPr>
            </a:pPr>
            <a:r>
              <a:t>学员激活 &gt;50%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51206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06078"/>
                </a:solidFill>
                <a:latin typeface="Helvetica Neue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0" y="5029200"/>
            <a:ext cx="2011680" cy="594360"/>
          </a:xfrm>
          <a:prstGeom prst="roundRect">
            <a:avLst>
              <a:gd name="adj" fmla="val 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0" y="50749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0F0F5"/>
                </a:solidFill>
                <a:latin typeface="Helvetica Neue"/>
              </a:defRPr>
            </a:pPr>
            <a:r>
              <a:t>付费 &gt;20%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51206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06078"/>
                </a:solidFill>
                <a:latin typeface="Helvetica Neue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01200" y="5029200"/>
            <a:ext cx="2011680" cy="594360"/>
          </a:xfrm>
          <a:prstGeom prst="roundRect">
            <a:avLst>
              <a:gd name="adj" fmla="val 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0" y="50749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0F0F5"/>
                </a:solidFill>
                <a:latin typeface="Helvetica Neue"/>
              </a:defRPr>
            </a:pPr>
            <a:r>
              <a:t>续费 &gt;90%/月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943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>
                <a:solidFill>
                  <a:srgbClr val="6366F1"/>
                </a:solidFill>
                <a:latin typeface="Helvetica Neue"/>
              </a:rPr>
              <a:t>●  </a:t>
            </a:r>
            <a:r>
              <a:rPr sz="1300">
                <a:solidFill>
                  <a:srgbClr val="A0A0B8"/>
                </a:solidFill>
                <a:latin typeface="Helvetica Neue"/>
              </a:rPr>
              <a:t>获客渠道：教培社群内容营销 · 首批客户口碑 · 机构首页 SEO · 限时免费政策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06078"/>
                </a:solidFill>
                <a:latin typeface="Menlo"/>
              </a:defRPr>
            </a:pPr>
            <a:r>
              <a:t>11/16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18CF8"/>
                </a:solidFill>
                <a:latin typeface="Menlo"/>
              </a:defRPr>
            </a:pPr>
            <a:r>
              <a:t>COMPETITION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5"/>
                </a:solidFill>
                <a:latin typeface="Helvetica Neue"/>
              </a:defRPr>
            </a:pPr>
            <a:r>
              <a:t>竞争格局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728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2560320"/>
          <a:ext cx="1143000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  <a:gridCol w="2743200"/>
                <a:gridCol w="411480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818CF8"/>
                          </a:solidFill>
                          <a:latin typeface="Menlo"/>
                        </a:defRPr>
                      </a:pP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818CF8"/>
                          </a:solidFill>
                          <a:latin typeface="Menlo"/>
                        </a:defRPr>
                      </a:pPr>
                      <a:r>
                        <a:t>教培 SaaS（校宝）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818CF8"/>
                          </a:solidFill>
                          <a:latin typeface="Menlo"/>
                        </a:defRPr>
                      </a:pPr>
                      <a:r>
                        <a:t>AI 教育（松鼠 AI）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818CF8"/>
                          </a:solidFill>
                          <a:latin typeface="Menlo"/>
                        </a:defRPr>
                      </a:pPr>
                      <a:r>
                        <a:t>UniMind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定位</a:t>
                      </a:r>
                    </a:p>
                  </a:txBody>
                  <a:tcPr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管理工具</a:t>
                      </a:r>
                    </a:p>
                  </a:txBody>
                  <a:tcPr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学习工具</a:t>
                      </a:r>
                    </a:p>
                  </a:txBody>
                  <a:tcPr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AI 运营系统</a:t>
                      </a:r>
                    </a:p>
                  </a:txBody>
                  <a:tcPr>
                    <a:solidFill>
                      <a:srgbClr val="1A1A3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AI 能力</a:t>
                      </a:r>
                    </a:p>
                  </a:txBody>
                  <a:tcPr>
                    <a:solidFill>
                      <a:srgbClr val="1010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无/弱</a:t>
                      </a:r>
                    </a:p>
                  </a:txBody>
                  <a:tcPr>
                    <a:solidFill>
                      <a:srgbClr val="1010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单一</a:t>
                      </a:r>
                    </a:p>
                  </a:txBody>
                  <a:tcPr>
                    <a:solidFill>
                      <a:srgbClr val="1010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多 Agent 管线</a:t>
                      </a:r>
                    </a:p>
                  </a:txBody>
                  <a:tcPr>
                    <a:solidFill>
                      <a:srgbClr val="10102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出题</a:t>
                      </a:r>
                    </a:p>
                  </a:txBody>
                  <a:tcPr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无</a:t>
                      </a:r>
                    </a:p>
                  </a:txBody>
                  <a:tcPr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质量不可控</a:t>
                      </a:r>
                    </a:p>
                  </a:txBody>
                  <a:tcPr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ARC 85%+</a:t>
                      </a:r>
                    </a:p>
                  </a:txBody>
                  <a:tcPr>
                    <a:solidFill>
                      <a:srgbClr val="1A1A3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个性化</a:t>
                      </a:r>
                    </a:p>
                  </a:txBody>
                  <a:tcPr>
                    <a:solidFill>
                      <a:srgbClr val="1010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无</a:t>
                      </a:r>
                    </a:p>
                  </a:txBody>
                  <a:tcPr>
                    <a:solidFill>
                      <a:srgbClr val="1010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有</a:t>
                      </a:r>
                    </a:p>
                  </a:txBody>
                  <a:tcPr>
                    <a:solidFill>
                      <a:srgbClr val="1010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Memorix 在线学习</a:t>
                      </a:r>
                    </a:p>
                  </a:txBody>
                  <a:tcPr>
                    <a:solidFill>
                      <a:srgbClr val="10102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B2B 管理</a:t>
                      </a:r>
                    </a:p>
                  </a:txBody>
                  <a:tcPr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强</a:t>
                      </a:r>
                    </a:p>
                  </a:txBody>
                  <a:tcPr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弱</a:t>
                      </a:r>
                    </a:p>
                  </a:txBody>
                  <a:tcPr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强（RBAC/白标）</a:t>
                      </a:r>
                    </a:p>
                  </a:txBody>
                  <a:tcPr>
                    <a:solidFill>
                      <a:srgbClr val="1A1A3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自研算法</a:t>
                      </a:r>
                    </a:p>
                  </a:txBody>
                  <a:tcPr>
                    <a:solidFill>
                      <a:srgbClr val="1010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无</a:t>
                      </a:r>
                    </a:p>
                  </a:txBody>
                  <a:tcPr>
                    <a:solidFill>
                      <a:srgbClr val="1010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有</a:t>
                      </a:r>
                    </a:p>
                  </a:txBody>
                  <a:tcPr>
                    <a:solidFill>
                      <a:srgbClr val="1010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有（白皮书+工程）</a:t>
                      </a:r>
                    </a:p>
                  </a:txBody>
                  <a:tcPr>
                    <a:solidFill>
                      <a:srgbClr val="10102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3035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  <a:latin typeface="Helvetica Neue"/>
              </a:defRPr>
            </a:pPr>
            <a:r>
              <a:t>护城河：Memorix 算法 · ARC 管线 · 全链路整合 · 数据飞轮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06078"/>
                </a:solidFill>
                <a:latin typeface="Menlo"/>
              </a:defRPr>
            </a:pPr>
            <a:r>
              <a:t>12/16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18CF8"/>
                </a:solidFill>
                <a:latin typeface="Menlo"/>
              </a:defRPr>
            </a:pPr>
            <a:r>
              <a:t>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5"/>
                </a:solidFill>
                <a:latin typeface="Helvetica Neue"/>
              </a:defRPr>
            </a:pPr>
            <a:r>
              <a:t>牵引力与里程碑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728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56032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1A1A32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560320"/>
            <a:ext cx="530352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5"/>
                </a:solidFill>
                <a:latin typeface="Helvetica Neue"/>
              </a:defRPr>
            </a:pPr>
            <a:r>
              <a:t>已达成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0040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>
                <a:solidFill>
                  <a:srgbClr val="6366F1"/>
                </a:solidFill>
                <a:latin typeface="Helvetica Neue"/>
              </a:rPr>
              <a:t>●  </a:t>
            </a:r>
            <a:r>
              <a:rPr sz="1300">
                <a:solidFill>
                  <a:srgbClr val="A0A0B8"/>
                </a:solidFill>
                <a:latin typeface="Helvetica Neue"/>
              </a:rPr>
              <a:t>产品已上线运营（UniMind.ai，阿里云上海）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6366F1"/>
                </a:solidFill>
                <a:latin typeface="Helvetica Neue"/>
              </a:rPr>
              <a:t>●  </a:t>
            </a:r>
            <a:r>
              <a:rPr sz="1300">
                <a:solidFill>
                  <a:srgbClr val="A0A0B8"/>
                </a:solidFill>
                <a:latin typeface="Helvetica Neue"/>
              </a:rPr>
              <a:t>10+ 学科支持（考研、公考、K12、职业资格）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6366F1"/>
                </a:solidFill>
                <a:latin typeface="Helvetica Neue"/>
              </a:rPr>
              <a:t>●  </a:t>
            </a:r>
            <a:r>
              <a:rPr sz="1300">
                <a:solidFill>
                  <a:srgbClr val="A0A0B8"/>
                </a:solidFill>
                <a:latin typeface="Helvetica Neue"/>
              </a:rPr>
              <a:t>50,000+ 题目已生成 · 50+ 活跃机构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6366F1"/>
                </a:solidFill>
                <a:latin typeface="Helvetica Neue"/>
              </a:rPr>
              <a:t>●  </a:t>
            </a:r>
            <a:r>
              <a:rPr sz="1300">
                <a:solidFill>
                  <a:srgbClr val="A0A0B8"/>
                </a:solidFill>
                <a:latin typeface="Helvetica Neue"/>
              </a:rPr>
              <a:t>完整 B2B SaaS + 自研算法 + 白皮书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56032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1A1A32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2560320"/>
            <a:ext cx="530352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27889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5"/>
                </a:solidFill>
                <a:latin typeface="Helvetica Neue"/>
              </a:defRPr>
            </a:pPr>
            <a:r>
              <a:t>近期目标（6 月）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20040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>
                <a:solidFill>
                  <a:srgbClr val="6366F1"/>
                </a:solidFill>
                <a:latin typeface="Helvetica Neue"/>
              </a:rPr>
              <a:t>●  </a:t>
            </a:r>
            <a:r>
              <a:rPr sz="1300">
                <a:solidFill>
                  <a:srgbClr val="A0A0B8"/>
                </a:solidFill>
                <a:latin typeface="Helvetica Neue"/>
              </a:rPr>
              <a:t>10+ 付费机构客户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6366F1"/>
                </a:solidFill>
                <a:latin typeface="Helvetica Neue"/>
              </a:rPr>
              <a:t>●  </a:t>
            </a:r>
            <a:r>
              <a:rPr sz="1300">
                <a:solidFill>
                  <a:srgbClr val="A0A0B8"/>
                </a:solidFill>
                <a:latin typeface="Helvetica Neue"/>
              </a:rPr>
              <a:t>¥50 万 ARR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6366F1"/>
                </a:solidFill>
                <a:latin typeface="Helvetica Neue"/>
              </a:rPr>
              <a:t>●  </a:t>
            </a:r>
            <a:r>
              <a:rPr sz="1300">
                <a:solidFill>
                  <a:srgbClr val="A0A0B8"/>
                </a:solidFill>
                <a:latin typeface="Helvetica Neue"/>
              </a:rPr>
              <a:t>首批客户案例 + 数据验证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937760"/>
            <a:ext cx="5303520" cy="1371600"/>
          </a:xfrm>
          <a:prstGeom prst="roundRect">
            <a:avLst>
              <a:gd name="adj" fmla="val 5000"/>
            </a:avLst>
          </a:prstGeom>
          <a:solidFill>
            <a:srgbClr val="1A1A32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937760"/>
            <a:ext cx="530352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1663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5"/>
                </a:solidFill>
                <a:latin typeface="Helvetica Neue"/>
              </a:defRPr>
            </a:pPr>
            <a:r>
              <a:t>中期目标（12 月）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57784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>
                <a:solidFill>
                  <a:srgbClr val="6366F1"/>
                </a:solidFill>
                <a:latin typeface="Helvetica Neue"/>
              </a:rPr>
              <a:t>●  </a:t>
            </a:r>
            <a:r>
              <a:rPr sz="1300">
                <a:solidFill>
                  <a:srgbClr val="A0A0B8"/>
                </a:solidFill>
                <a:latin typeface="Helvetica Neue"/>
              </a:rPr>
              <a:t>50+ 付费机构 · ¥200 万 ARR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6366F1"/>
                </a:solidFill>
                <a:latin typeface="Helvetica Neue"/>
              </a:rPr>
              <a:t>●  </a:t>
            </a:r>
            <a:r>
              <a:rPr sz="1300">
                <a:solidFill>
                  <a:srgbClr val="A0A0B8"/>
                </a:solidFill>
                <a:latin typeface="Helvetica Neue"/>
              </a:rPr>
              <a:t>出海准备（Stripe + 英文市场验证）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4937760"/>
            <a:ext cx="5303520" cy="1371600"/>
          </a:xfrm>
          <a:prstGeom prst="roundRect">
            <a:avLst>
              <a:gd name="adj" fmla="val 5000"/>
            </a:avLst>
          </a:prstGeom>
          <a:solidFill>
            <a:srgbClr val="1A1A32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4937760"/>
            <a:ext cx="530352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51663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5"/>
                </a:solidFill>
                <a:latin typeface="Helvetica Neue"/>
              </a:defRPr>
            </a:pPr>
            <a:r>
              <a:t>关键指标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557784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>
                <a:solidFill>
                  <a:srgbClr val="6366F1"/>
                </a:solidFill>
                <a:latin typeface="Helvetica Neue"/>
              </a:rPr>
              <a:t>●  </a:t>
            </a:r>
            <a:r>
              <a:rPr sz="1300">
                <a:solidFill>
                  <a:srgbClr val="A0A0B8"/>
                </a:solidFill>
                <a:latin typeface="Helvetica Neue"/>
              </a:rPr>
              <a:t>试用转化 &gt;20% · 月留存 &gt;90% · 学员激活 &gt;50%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06078"/>
                </a:solidFill>
                <a:latin typeface="Menlo"/>
              </a:defRPr>
            </a:pPr>
            <a:r>
              <a:t>13/16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18CF8"/>
                </a:solidFill>
                <a:latin typeface="Menlo"/>
              </a:defRPr>
            </a:pPr>
            <a:r>
              <a:t>FINANCIALS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5"/>
                </a:solidFill>
                <a:latin typeface="Helvetica Neue"/>
              </a:defRPr>
            </a:pPr>
            <a:r>
              <a:t>财务预测（保守估计）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728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2560320"/>
          <a:ext cx="91440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818CF8"/>
                          </a:solidFill>
                          <a:latin typeface="Menlo"/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818CF8"/>
                          </a:solidFill>
                          <a:latin typeface="Menlo"/>
                        </a:defRPr>
                      </a:pPr>
                      <a:r>
                        <a:t>6 个月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818CF8"/>
                          </a:solidFill>
                          <a:latin typeface="Menlo"/>
                        </a:defRPr>
                      </a:pPr>
                      <a:r>
                        <a:t>12 个月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818CF8"/>
                          </a:solidFill>
                          <a:latin typeface="Menlo"/>
                        </a:defRPr>
                      </a:pPr>
                      <a:r>
                        <a:t>24 个月</a:t>
                      </a:r>
                    </a:p>
                  </a:txBody>
                  <a:tcPr>
                    <a:solidFill>
                      <a:srgbClr val="1616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付费机构</a:t>
                      </a:r>
                    </a:p>
                  </a:txBody>
                  <a:tcPr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200</a:t>
                      </a:r>
                    </a:p>
                  </a:txBody>
                  <a:tcPr>
                    <a:solidFill>
                      <a:srgbClr val="1A1A3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平均 ARPU</a:t>
                      </a:r>
                    </a:p>
                  </a:txBody>
                  <a:tcPr>
                    <a:solidFill>
                      <a:srgbClr val="1010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¥15,000/年</a:t>
                      </a:r>
                    </a:p>
                  </a:txBody>
                  <a:tcPr>
                    <a:solidFill>
                      <a:srgbClr val="1010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¥18,000/年</a:t>
                      </a:r>
                    </a:p>
                  </a:txBody>
                  <a:tcPr>
                    <a:solidFill>
                      <a:srgbClr val="1010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¥20,000/年</a:t>
                      </a:r>
                    </a:p>
                  </a:txBody>
                  <a:tcPr>
                    <a:solidFill>
                      <a:srgbClr val="10102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ARR</a:t>
                      </a:r>
                    </a:p>
                  </a:txBody>
                  <a:tcPr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¥15 万</a:t>
                      </a:r>
                    </a:p>
                  </a:txBody>
                  <a:tcPr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¥90 万</a:t>
                      </a:r>
                    </a:p>
                  </a:txBody>
                  <a:tcPr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¥400 万</a:t>
                      </a:r>
                    </a:p>
                  </a:txBody>
                  <a:tcPr>
                    <a:solidFill>
                      <a:srgbClr val="1A1A3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月度留存</a:t>
                      </a:r>
                    </a:p>
                  </a:txBody>
                  <a:tcPr>
                    <a:solidFill>
                      <a:srgbClr val="1010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90%</a:t>
                      </a:r>
                    </a:p>
                  </a:txBody>
                  <a:tcPr>
                    <a:solidFill>
                      <a:srgbClr val="1010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92%</a:t>
                      </a:r>
                    </a:p>
                  </a:txBody>
                  <a:tcPr>
                    <a:solidFill>
                      <a:srgbClr val="1010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95%</a:t>
                      </a:r>
                    </a:p>
                  </a:txBody>
                  <a:tcPr>
                    <a:solidFill>
                      <a:srgbClr val="10102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毛利率</a:t>
                      </a:r>
                    </a:p>
                  </a:txBody>
                  <a:tcPr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70%</a:t>
                      </a:r>
                    </a:p>
                  </a:txBody>
                  <a:tcPr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75%</a:t>
                      </a:r>
                    </a:p>
                  </a:txBody>
                  <a:tcPr>
                    <a:solidFill>
                      <a:srgbClr val="1A1A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A0A0B8"/>
                          </a:solidFill>
                          <a:latin typeface="Helvetica Neue"/>
                        </a:defRPr>
                      </a:pPr>
                      <a:r>
                        <a:t>80%</a:t>
                      </a:r>
                    </a:p>
                  </a:txBody>
                  <a:tcPr>
                    <a:solidFill>
                      <a:srgbClr val="1A1A32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371600" y="5029200"/>
            <a:ext cx="9144000" cy="1371600"/>
          </a:xfrm>
          <a:prstGeom prst="roundRect">
            <a:avLst>
              <a:gd name="adj" fmla="val 5000"/>
            </a:avLst>
          </a:prstGeom>
          <a:solidFill>
            <a:srgbClr val="1A1A32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00200" y="525780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5"/>
                </a:solidFill>
                <a:latin typeface="Helvetica Neue"/>
              </a:defRPr>
            </a:pPr>
            <a:r>
              <a:t>关键假设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566928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>
                <a:solidFill>
                  <a:srgbClr val="6366F1"/>
                </a:solidFill>
                <a:latin typeface="Helvetica Neue"/>
              </a:rPr>
              <a:t>●  </a:t>
            </a:r>
            <a:r>
              <a:rPr sz="1300">
                <a:solidFill>
                  <a:srgbClr val="A0A0B8"/>
                </a:solidFill>
                <a:latin typeface="Helvetica Neue"/>
              </a:rPr>
              <a:t>LLM 成本随规模下降（当前 ~¥0.01/次 API 调用）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6366F1"/>
                </a:solidFill>
                <a:latin typeface="Helvetica Neue"/>
              </a:rPr>
              <a:t>●  </a:t>
            </a:r>
            <a:r>
              <a:rPr sz="1300">
                <a:solidFill>
                  <a:srgbClr val="A0A0B8"/>
                </a:solidFill>
                <a:latin typeface="Helvetica Neue"/>
              </a:rPr>
              <a:t>基础设施成本固定（单服务器可支撑 100+ 机构）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6366F1"/>
                </a:solidFill>
                <a:latin typeface="Helvetica Neue"/>
              </a:rPr>
              <a:t>●  </a:t>
            </a:r>
            <a:r>
              <a:rPr sz="1300">
                <a:solidFill>
                  <a:srgbClr val="A0A0B8"/>
                </a:solidFill>
                <a:latin typeface="Helvetica Neue"/>
              </a:rPr>
              <a:t>人力成本主要是产品迭代和客户成功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06078"/>
                </a:solidFill>
                <a:latin typeface="Menlo"/>
              </a:defRPr>
            </a:pPr>
            <a:r>
              <a:t>14/16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18CF8"/>
                </a:solidFill>
                <a:latin typeface="Menlo"/>
              </a:defRPr>
            </a:pPr>
            <a:r>
              <a:t>TEAM &amp;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5"/>
                </a:solidFill>
                <a:latin typeface="Helvetica Neue"/>
              </a:defRPr>
            </a:pPr>
            <a:r>
              <a:t>团队与融资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728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560320"/>
            <a:ext cx="5303520" cy="3657600"/>
          </a:xfrm>
          <a:prstGeom prst="roundRect">
            <a:avLst>
              <a:gd name="adj" fmla="val 5000"/>
            </a:avLst>
          </a:prstGeom>
          <a:solidFill>
            <a:srgbClr val="1A1A32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560320"/>
            <a:ext cx="530352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5"/>
                </a:solidFill>
                <a:latin typeface="Helvetica Neue"/>
              </a:defRPr>
            </a:pPr>
            <a:r>
              <a:t>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00400"/>
            <a:ext cx="4846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>
                <a:solidFill>
                  <a:srgbClr val="6366F1"/>
                </a:solidFill>
                <a:latin typeface="Helvetica Neue"/>
              </a:rPr>
              <a:t>●  </a:t>
            </a:r>
            <a:r>
              <a:rPr sz="1300">
                <a:solidFill>
                  <a:srgbClr val="A0A0B8"/>
                </a:solidFill>
                <a:latin typeface="Helvetica Neue"/>
              </a:rPr>
              <a:t>— 创始人背景（教育 + 技术交叉）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6366F1"/>
                </a:solidFill>
                <a:latin typeface="Helvetica Neue"/>
              </a:rPr>
              <a:t>●  </a:t>
            </a:r>
            <a:r>
              <a:rPr sz="1300">
                <a:solidFill>
                  <a:srgbClr val="A0A0B8"/>
                </a:solidFill>
                <a:latin typeface="Helvetica Neue"/>
              </a:rPr>
              <a:t>— 核心技术能力（全栈 + AI 算法）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6366F1"/>
                </a:solidFill>
                <a:latin typeface="Helvetica Neue"/>
              </a:rPr>
              <a:t>●  </a:t>
            </a:r>
            <a:r>
              <a:rPr sz="1300">
                <a:solidFill>
                  <a:srgbClr val="A0A0B8"/>
                </a:solidFill>
                <a:latin typeface="Helvetica Neue"/>
              </a:rPr>
              <a:t>— 行业认知（对教培痛点的理解）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560320"/>
            <a:ext cx="5303520" cy="3657600"/>
          </a:xfrm>
          <a:prstGeom prst="roundRect">
            <a:avLst>
              <a:gd name="adj" fmla="val 5000"/>
            </a:avLst>
          </a:prstGeom>
          <a:solidFill>
            <a:srgbClr val="1A1A32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2560320"/>
            <a:ext cx="530352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27889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5"/>
                </a:solidFill>
                <a:latin typeface="Helvetica Neue"/>
              </a:defRPr>
            </a:pPr>
            <a:r>
              <a:t>融资需求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200400"/>
            <a:ext cx="4846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>
                <a:solidFill>
                  <a:srgbClr val="6366F1"/>
                </a:solidFill>
                <a:latin typeface="Helvetica Neue"/>
              </a:rPr>
              <a:t>●  </a:t>
            </a:r>
            <a:r>
              <a:rPr sz="1300">
                <a:solidFill>
                  <a:srgbClr val="A0A0B8"/>
                </a:solidFill>
                <a:latin typeface="Helvetica Neue"/>
              </a:rPr>
              <a:t>— 本轮融资金额和轮次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6366F1"/>
                </a:solidFill>
                <a:latin typeface="Helvetica Neue"/>
              </a:rPr>
              <a:t>●  </a:t>
            </a:r>
            <a:r>
              <a:rPr sz="1300">
                <a:solidFill>
                  <a:srgbClr val="A0A0B8"/>
                </a:solidFill>
                <a:latin typeface="Helvetica Neue"/>
              </a:rPr>
              <a:t>— 资金用途：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6366F1"/>
                </a:solidFill>
                <a:latin typeface="Helvetica Neue"/>
              </a:rPr>
              <a:t>●  </a:t>
            </a:r>
            <a:r>
              <a:rPr sz="1300">
                <a:solidFill>
                  <a:srgbClr val="A0A0B8"/>
                </a:solidFill>
                <a:latin typeface="Helvetica Neue"/>
              </a:rPr>
              <a:t>    40% 产品迭代（出海/移动端）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6366F1"/>
                </a:solidFill>
                <a:latin typeface="Helvetica Neue"/>
              </a:rPr>
              <a:t>●  </a:t>
            </a:r>
            <a:r>
              <a:rPr sz="1300">
                <a:solidFill>
                  <a:srgbClr val="A0A0B8"/>
                </a:solidFill>
                <a:latin typeface="Helvetica Neue"/>
              </a:rPr>
              <a:t>    30% 市场获客（种子客户 + 内容营销）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6366F1"/>
                </a:solidFill>
                <a:latin typeface="Helvetica Neue"/>
              </a:rPr>
              <a:t>●  </a:t>
            </a:r>
            <a:r>
              <a:rPr sz="1300">
                <a:solidFill>
                  <a:srgbClr val="A0A0B8"/>
                </a:solidFill>
                <a:latin typeface="Helvetica Neue"/>
              </a:rPr>
              <a:t>    20% 团队扩充（客户成功 + 销售）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6366F1"/>
                </a:solidFill>
                <a:latin typeface="Helvetica Neue"/>
              </a:rPr>
              <a:t>●  </a:t>
            </a:r>
            <a:r>
              <a:rPr sz="1300">
                <a:solidFill>
                  <a:srgbClr val="A0A0B8"/>
                </a:solidFill>
                <a:latin typeface="Helvetica Neue"/>
              </a:rPr>
              <a:t>    10% 运营储备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6366F1"/>
                </a:solidFill>
                <a:latin typeface="Helvetica Neue"/>
              </a:rPr>
              <a:t>●  </a:t>
            </a:r>
            <a:r>
              <a:rPr sz="1300">
                <a:solidFill>
                  <a:srgbClr val="A0A0B8"/>
                </a:solidFill>
                <a:latin typeface="Helvetica Neue"/>
              </a:rPr>
              <a:t>— 预期达成里程碑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06078"/>
                </a:solidFill>
                <a:latin typeface="Menlo"/>
              </a:defRPr>
            </a:pPr>
            <a:r>
              <a:t>15/16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366F1">
              <a:lumMod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0F0F5"/>
                </a:solidFill>
                <a:latin typeface="Helvetica Neue"/>
              </a:defRPr>
            </a:pPr>
            <a:r>
              <a:t>让每一个培训机构都拥有 AI 运营能力</a:t>
            </a:r>
          </a:p>
        </p:txBody>
      </p:sp>
      <p:sp>
        <p:nvSpPr>
          <p:cNvPr id="4" name="Oval 3"/>
          <p:cNvSpPr/>
          <p:nvPr/>
        </p:nvSpPr>
        <p:spPr>
          <a:xfrm>
            <a:off x="2743200" y="3017520"/>
            <a:ext cx="137160" cy="13716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98064" y="3200400"/>
            <a:ext cx="25400" cy="777240"/>
          </a:xfrm>
          <a:prstGeom prst="rect">
            <a:avLst/>
          </a:prstGeom>
          <a:solidFill>
            <a:srgbClr val="2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0" y="2926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D3EE"/>
                </a:solidFill>
                <a:latin typeface="Helvetica Neue"/>
              </a:defRPr>
            </a:pPr>
            <a:r>
              <a:t>今天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926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A0A0B8"/>
                </a:solidFill>
                <a:latin typeface="Helvetica Neue"/>
              </a:defRPr>
            </a:pPr>
            <a:r>
              <a:t>AI 出题 + 自适应复习 + 机构管理 SaaS</a:t>
            </a:r>
          </a:p>
        </p:txBody>
      </p:sp>
      <p:sp>
        <p:nvSpPr>
          <p:cNvPr id="8" name="Oval 7"/>
          <p:cNvSpPr/>
          <p:nvPr/>
        </p:nvSpPr>
        <p:spPr>
          <a:xfrm>
            <a:off x="2743200" y="3931920"/>
            <a:ext cx="137160" cy="13716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98064" y="4114800"/>
            <a:ext cx="25400" cy="777240"/>
          </a:xfrm>
          <a:prstGeom prst="rect">
            <a:avLst/>
          </a:prstGeom>
          <a:solidFill>
            <a:srgbClr val="2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3840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D3EE"/>
                </a:solidFill>
                <a:latin typeface="Helvetica Neue"/>
              </a:defRPr>
            </a:pPr>
            <a:r>
              <a:t>明天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3840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A0A0B8"/>
                </a:solidFill>
                <a:latin typeface="Helvetica Neue"/>
              </a:defRPr>
            </a:pPr>
            <a:r>
              <a:t>学科知识图谱平台，连接机构、学生、内容</a:t>
            </a:r>
          </a:p>
        </p:txBody>
      </p:sp>
      <p:sp>
        <p:nvSpPr>
          <p:cNvPr id="12" name="Oval 11"/>
          <p:cNvSpPr/>
          <p:nvPr/>
        </p:nvSpPr>
        <p:spPr>
          <a:xfrm>
            <a:off x="2743200" y="4846320"/>
            <a:ext cx="137160" cy="13716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4754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D3EE"/>
                </a:solidFill>
                <a:latin typeface="Helvetica Neue"/>
              </a:defRPr>
            </a:pPr>
            <a:r>
              <a:t>未来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4754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A0A0B8"/>
                </a:solidFill>
                <a:latin typeface="Helvetica Neue"/>
              </a:defRPr>
            </a:pPr>
            <a:r>
              <a:t>教育领域的 AI 基础设施，重新定义「教」与「学」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5943600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06078"/>
                </a:solidFill>
                <a:latin typeface="Helvetica Neue"/>
              </a:defRPr>
            </a:pPr>
            <a:r>
              <a:t>北京融知高科 · UniMind.ai · korsonedu@gmail.com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06078"/>
                </a:solidFill>
                <a:latin typeface="Menlo"/>
              </a:defRPr>
            </a:pPr>
            <a:r>
              <a:t>16/16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